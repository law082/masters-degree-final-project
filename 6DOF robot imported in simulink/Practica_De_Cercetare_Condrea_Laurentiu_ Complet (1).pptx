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6" r:id="rId5"/>
    <p:sldId id="267" r:id="rId6"/>
    <p:sldId id="259" r:id="rId7"/>
    <p:sldId id="268" r:id="rId8"/>
    <p:sldId id="260" r:id="rId9"/>
    <p:sldId id="261" r:id="rId10"/>
    <p:sldId id="269" r:id="rId11"/>
    <p:sldId id="271" r:id="rId12"/>
    <p:sldId id="272" r:id="rId13"/>
    <p:sldId id="273" r:id="rId14"/>
    <p:sldId id="275" r:id="rId15"/>
    <p:sldId id="262" r:id="rId16"/>
    <p:sldId id="263" r:id="rId17"/>
    <p:sldId id="277" r:id="rId18"/>
    <p:sldId id="278" r:id="rId19"/>
    <p:sldId id="279" r:id="rId20"/>
    <p:sldId id="280" r:id="rId21"/>
    <p:sldId id="281" r:id="rId22"/>
    <p:sldId id="282" r:id="rId23"/>
    <p:sldId id="286" r:id="rId24"/>
    <p:sldId id="287" r:id="rId25"/>
    <p:sldId id="288" r:id="rId26"/>
    <p:sldId id="289" r:id="rId27"/>
    <p:sldId id="290" r:id="rId28"/>
    <p:sldId id="291" r:id="rId29"/>
    <p:sldId id="283" r:id="rId30"/>
    <p:sldId id="284" r:id="rId31"/>
    <p:sldId id="276" r:id="rId32"/>
    <p:sldId id="285" r:id="rId33"/>
    <p:sldId id="295" r:id="rId34"/>
    <p:sldId id="296" r:id="rId35"/>
    <p:sldId id="297" r:id="rId36"/>
    <p:sldId id="293" r:id="rId37"/>
    <p:sldId id="294" r:id="rId38"/>
    <p:sldId id="292" r:id="rId39"/>
    <p:sldId id="26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74B4FF-9F73-5543-BEF6-EAE2CA853D5D}" v="153" dt="2026-05-02T18:02:14.522"/>
    <p1510:client id="{844A78F8-456A-B425-2471-D5A928279F6D}" v="26" dt="2026-05-02T16:59:04.572"/>
    <p1510:client id="{FA86902C-4CBD-1991-08D5-EB611C8A65FA}" v="108" dt="2026-05-02T07:18:45.2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80407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err="1"/>
              <a:t>Simularea</a:t>
            </a:r>
            <a:r>
              <a:rPr lang="en-US" sz="5200"/>
              <a:t> </a:t>
            </a:r>
            <a:r>
              <a:rPr lang="en-US" sz="5200" err="1"/>
              <a:t>unui</a:t>
            </a:r>
            <a:r>
              <a:rPr lang="en-US" sz="5200"/>
              <a:t> </a:t>
            </a:r>
            <a:r>
              <a:rPr lang="en-US" sz="5200" err="1"/>
              <a:t>braț</a:t>
            </a:r>
            <a:r>
              <a:rPr lang="en-US" sz="5200"/>
              <a:t> robotic </a:t>
            </a:r>
            <a:r>
              <a:rPr lang="en-US" sz="5200" err="1"/>
              <a:t>în</a:t>
            </a:r>
            <a:r>
              <a:rPr lang="en-US" sz="5200"/>
              <a:t> Simulink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80408" y="4629234"/>
            <a:ext cx="3973386" cy="148531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-Pick and Place-</a:t>
            </a:r>
            <a:endParaRPr lang="en-US"/>
          </a:p>
          <a:p>
            <a:pPr algn="l"/>
            <a:r>
              <a:rPr lang="en-US" sz="2000"/>
              <a:t>Autor: Condrea Laurențiu Daniel</a:t>
            </a:r>
          </a:p>
          <a:p>
            <a:pPr algn="l"/>
            <a:r>
              <a:rPr lang="en-US" sz="2000" err="1"/>
              <a:t>Profesor</a:t>
            </a:r>
            <a:r>
              <a:rPr lang="en-US" sz="2000"/>
              <a:t> </a:t>
            </a:r>
            <a:r>
              <a:rPr lang="en-US" sz="2000" err="1"/>
              <a:t>coordonator</a:t>
            </a:r>
            <a:r>
              <a:rPr lang="en-US" sz="2000"/>
              <a:t>: </a:t>
            </a:r>
            <a:r>
              <a:rPr lang="en-US" sz="2000" err="1"/>
              <a:t>Mihălcică</a:t>
            </a:r>
            <a:r>
              <a:rPr lang="en-US" sz="2000"/>
              <a:t> Mircea</a:t>
            </a:r>
          </a:p>
        </p:txBody>
      </p:sp>
      <p:pic>
        <p:nvPicPr>
          <p:cNvPr id="4" name="Picture 3" descr="A blue and black robotic arm&#10;&#10;AI-generated content may be incorrect.">
            <a:extLst>
              <a:ext uri="{FF2B5EF4-FFF2-40B4-BE49-F238E27FC236}">
                <a16:creationId xmlns:a16="http://schemas.microsoft.com/office/drawing/2014/main" id="{CCC7974F-D9CA-C39A-6971-E58366A2DC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3647"/>
          <a:stretch>
            <a:fillRect/>
          </a:stretch>
        </p:blipFill>
        <p:spPr>
          <a:xfrm>
            <a:off x="20" y="10"/>
            <a:ext cx="699288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49A0B-555F-A852-DBA0-62E380341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Obiectivul: Sarcina "Pick and Place"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7959-6609-010F-6800-5ECDC69E6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err="1">
                <a:ea typeface="+mn-lt"/>
                <a:cs typeface="+mn-lt"/>
              </a:rPr>
              <a:t>Deplasarea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efectorului</a:t>
            </a:r>
            <a:r>
              <a:rPr lang="en-US" sz="2000">
                <a:ea typeface="+mn-lt"/>
                <a:cs typeface="+mn-lt"/>
              </a:rPr>
              <a:t> final din </a:t>
            </a:r>
            <a:r>
              <a:rPr lang="en-US" sz="2000" err="1">
                <a:ea typeface="+mn-lt"/>
                <a:cs typeface="+mn-lt"/>
              </a:rPr>
              <a:t>punctul</a:t>
            </a:r>
            <a:r>
              <a:rPr lang="en-US" sz="2000">
                <a:ea typeface="+mn-lt"/>
                <a:cs typeface="+mn-lt"/>
              </a:rPr>
              <a:t> A (</a:t>
            </a:r>
            <a:r>
              <a:rPr lang="en-US" sz="2000" err="1">
                <a:ea typeface="+mn-lt"/>
                <a:cs typeface="+mn-lt"/>
              </a:rPr>
              <a:t>Preluare</a:t>
            </a:r>
            <a:r>
              <a:rPr lang="en-US" sz="2000">
                <a:ea typeface="+mn-lt"/>
                <a:cs typeface="+mn-lt"/>
              </a:rPr>
              <a:t>) </a:t>
            </a:r>
            <a:r>
              <a:rPr lang="en-US" sz="2000" err="1">
                <a:ea typeface="+mn-lt"/>
                <a:cs typeface="+mn-lt"/>
              </a:rPr>
              <a:t>în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punctul</a:t>
            </a:r>
            <a:r>
              <a:rPr lang="en-US" sz="2000">
                <a:ea typeface="+mn-lt"/>
                <a:cs typeface="+mn-lt"/>
              </a:rPr>
              <a:t> B (</a:t>
            </a:r>
            <a:r>
              <a:rPr lang="en-US" sz="2000" err="1">
                <a:ea typeface="+mn-lt"/>
                <a:cs typeface="+mn-lt"/>
              </a:rPr>
              <a:t>Plasare</a:t>
            </a:r>
            <a:r>
              <a:rPr lang="en-US" sz="2000">
                <a:ea typeface="+mn-lt"/>
                <a:cs typeface="+mn-lt"/>
              </a:rPr>
              <a:t>).</a:t>
            </a:r>
            <a:endParaRPr lang="en-US" sz="2000"/>
          </a:p>
          <a:p>
            <a:pPr marL="0" indent="0">
              <a:buNone/>
            </a:pPr>
            <a:r>
              <a:rPr lang="en-US" sz="2000" b="1" err="1">
                <a:ea typeface="+mn-lt"/>
                <a:cs typeface="+mn-lt"/>
              </a:rPr>
              <a:t>Condiții</a:t>
            </a: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limită</a:t>
            </a:r>
            <a:r>
              <a:rPr lang="en-US" sz="2000" b="1">
                <a:ea typeface="+mn-lt"/>
                <a:cs typeface="+mn-lt"/>
              </a:rPr>
              <a:t>:</a:t>
            </a:r>
            <a:r>
              <a:rPr lang="en-US" sz="2000">
                <a:ea typeface="+mn-lt"/>
                <a:cs typeface="+mn-lt"/>
              </a:rPr>
              <a:t> Se </a:t>
            </a:r>
            <a:r>
              <a:rPr lang="en-US" sz="2000" err="1">
                <a:ea typeface="+mn-lt"/>
                <a:cs typeface="+mn-lt"/>
              </a:rPr>
              <a:t>iau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în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calcul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pozițiile</a:t>
            </a:r>
            <a:r>
              <a:rPr lang="en-US" sz="2000">
                <a:ea typeface="+mn-lt"/>
                <a:cs typeface="+mn-lt"/>
              </a:rPr>
              <a:t> (start/stop), </a:t>
            </a:r>
            <a:r>
              <a:rPr lang="en-US" sz="2000" err="1">
                <a:ea typeface="+mn-lt"/>
                <a:cs typeface="+mn-lt"/>
              </a:rPr>
              <a:t>durata</a:t>
            </a:r>
            <a:r>
              <a:rPr lang="en-US" sz="200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viteza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maximă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și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accelerația</a:t>
            </a:r>
            <a:r>
              <a:rPr lang="en-US" sz="20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r>
              <a:rPr lang="en-US" sz="2000" err="1">
                <a:ea typeface="+mn-lt"/>
                <a:cs typeface="+mn-lt"/>
              </a:rPr>
              <a:t>Mișcarea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tuturor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articulațiilor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este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sincronizată</a:t>
            </a:r>
            <a:r>
              <a:rPr lang="en-US" sz="2000">
                <a:ea typeface="+mn-lt"/>
                <a:cs typeface="+mn-lt"/>
              </a:rPr>
              <a:t> (</a:t>
            </a:r>
            <a:r>
              <a:rPr lang="en-US" sz="2000" err="1">
                <a:ea typeface="+mn-lt"/>
                <a:cs typeface="+mn-lt"/>
              </a:rPr>
              <a:t>încep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și</a:t>
            </a:r>
            <a:r>
              <a:rPr lang="en-US" sz="2000">
                <a:ea typeface="+mn-lt"/>
                <a:cs typeface="+mn-lt"/>
              </a:rPr>
              <a:t> se </a:t>
            </a:r>
            <a:r>
              <a:rPr lang="en-US" sz="2000" err="1">
                <a:ea typeface="+mn-lt"/>
                <a:cs typeface="+mn-lt"/>
              </a:rPr>
              <a:t>termină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în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același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timp</a:t>
            </a:r>
            <a:r>
              <a:rPr lang="en-US" sz="2000">
                <a:ea typeface="+mn-lt"/>
                <a:cs typeface="+mn-lt"/>
              </a:rPr>
              <a:t>).</a:t>
            </a:r>
            <a:endParaRPr lang="en-US" sz="2000"/>
          </a:p>
          <a:p>
            <a:pPr marL="0" indent="0">
              <a:buNone/>
            </a:pPr>
            <a:r>
              <a:rPr lang="en-US" sz="2000" b="1" err="1">
                <a:ea typeface="+mn-lt"/>
                <a:cs typeface="+mn-lt"/>
              </a:rPr>
              <a:t>Coordonate</a:t>
            </a:r>
            <a:r>
              <a:rPr lang="en-US" sz="2000" b="1">
                <a:ea typeface="+mn-lt"/>
                <a:cs typeface="+mn-lt"/>
              </a:rPr>
              <a:t> testate: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Start: P_0 = [0, 0, 0, 0, 0]</a:t>
            </a: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Final: </a:t>
            </a:r>
            <a:r>
              <a:rPr lang="en-US" sz="2000" err="1">
                <a:ea typeface="+mn-lt"/>
                <a:cs typeface="+mn-lt"/>
              </a:rPr>
              <a:t>P_e</a:t>
            </a:r>
            <a:r>
              <a:rPr lang="en-US" sz="2000">
                <a:ea typeface="+mn-lt"/>
                <a:cs typeface="+mn-lt"/>
              </a:rPr>
              <a:t> = [pi, -pi/2, pi/3, pi/4, pi/5]</a:t>
            </a:r>
            <a:endParaRPr lang="en-US" sz="2000"/>
          </a:p>
          <a:p>
            <a:pPr marL="0" indent="0">
              <a:buNone/>
            </a:pPr>
            <a:r>
              <a:rPr lang="en-US" sz="2000" err="1"/>
              <a:t>Durata</a:t>
            </a:r>
            <a:r>
              <a:rPr lang="en-US" sz="2000"/>
              <a:t>: 4 </a:t>
            </a:r>
            <a:r>
              <a:rPr lang="en-US" sz="2000" err="1"/>
              <a:t>secunde</a:t>
            </a: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106572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A9EE9-49FD-F794-ADC9-A490DA385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Planificarea Traiectoriei</a:t>
            </a:r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C4006-333D-1703-C63F-702B45E62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b="1" err="1">
                <a:ea typeface="+mn-lt"/>
                <a:cs typeface="+mn-lt"/>
              </a:rPr>
              <a:t>Metoda</a:t>
            </a:r>
            <a:r>
              <a:rPr lang="en-US" sz="2000" b="1">
                <a:ea typeface="+mn-lt"/>
                <a:cs typeface="+mn-lt"/>
              </a:rPr>
              <a:t>: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Interpolare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polinomială</a:t>
            </a:r>
            <a:r>
              <a:rPr lang="en-US" sz="2000">
                <a:ea typeface="+mn-lt"/>
                <a:cs typeface="+mn-lt"/>
              </a:rPr>
              <a:t> de </a:t>
            </a:r>
            <a:r>
              <a:rPr lang="en-US" sz="2000" err="1">
                <a:ea typeface="+mn-lt"/>
                <a:cs typeface="+mn-lt"/>
              </a:rPr>
              <a:t>ordinul</a:t>
            </a:r>
            <a:r>
              <a:rPr lang="en-US" sz="2000">
                <a:ea typeface="+mn-lt"/>
                <a:cs typeface="+mn-lt"/>
              </a:rPr>
              <a:t> 3.</a:t>
            </a:r>
            <a:endParaRPr lang="en-US" sz="2000"/>
          </a:p>
          <a:p>
            <a:pPr marL="0" indent="0">
              <a:buNone/>
            </a:pPr>
            <a:r>
              <a:rPr lang="en-US" sz="2000" err="1">
                <a:ea typeface="+mn-lt"/>
                <a:cs typeface="+mn-lt"/>
              </a:rPr>
              <a:t>Ecuația</a:t>
            </a:r>
            <a:r>
              <a:rPr lang="en-US" sz="2000">
                <a:ea typeface="+mn-lt"/>
                <a:cs typeface="+mn-lt"/>
              </a:rPr>
              <a:t> de </a:t>
            </a:r>
            <a:r>
              <a:rPr lang="en-US" sz="2000" err="1">
                <a:ea typeface="+mn-lt"/>
                <a:cs typeface="+mn-lt"/>
              </a:rPr>
              <a:t>mișcare</a:t>
            </a:r>
            <a:r>
              <a:rPr lang="en-US" sz="2000">
                <a:ea typeface="+mn-lt"/>
                <a:cs typeface="+mn-lt"/>
              </a:rPr>
              <a:t>: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q(t) = a_3 * t^3 + a_2 * t^2 + a_1 * t + a_0</a:t>
            </a:r>
            <a:endParaRPr lang="en-US" sz="2000"/>
          </a:p>
          <a:p>
            <a:pPr marL="0" indent="0">
              <a:buNone/>
            </a:pPr>
            <a:r>
              <a:rPr lang="en-US" sz="2000" err="1">
                <a:ea typeface="+mn-lt"/>
                <a:cs typeface="+mn-lt"/>
              </a:rPr>
              <a:t>Coeficienții</a:t>
            </a:r>
            <a:r>
              <a:rPr lang="en-US" sz="2000">
                <a:ea typeface="+mn-lt"/>
                <a:cs typeface="+mn-lt"/>
              </a:rPr>
              <a:t> sunt </a:t>
            </a:r>
            <a:r>
              <a:rPr lang="en-US" sz="2000" err="1">
                <a:ea typeface="+mn-lt"/>
                <a:cs typeface="+mn-lt"/>
              </a:rPr>
              <a:t>calculați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pentru</a:t>
            </a:r>
            <a:r>
              <a:rPr lang="en-US" sz="2000">
                <a:ea typeface="+mn-lt"/>
                <a:cs typeface="+mn-lt"/>
              </a:rPr>
              <a:t> a </a:t>
            </a:r>
            <a:r>
              <a:rPr lang="en-US" sz="2000" err="1">
                <a:ea typeface="+mn-lt"/>
                <a:cs typeface="+mn-lt"/>
              </a:rPr>
              <a:t>satisface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condițiile</a:t>
            </a:r>
            <a:r>
              <a:rPr lang="en-US" sz="2000">
                <a:ea typeface="+mn-lt"/>
                <a:cs typeface="+mn-lt"/>
              </a:rPr>
              <a:t> de </a:t>
            </a:r>
            <a:r>
              <a:rPr lang="en-US" sz="2000" err="1">
                <a:ea typeface="+mn-lt"/>
                <a:cs typeface="+mn-lt"/>
              </a:rPr>
              <a:t>poziție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și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viteză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nulă</a:t>
            </a:r>
            <a:r>
              <a:rPr lang="en-US" sz="2000">
                <a:ea typeface="+mn-lt"/>
                <a:cs typeface="+mn-lt"/>
              </a:rPr>
              <a:t> la </a:t>
            </a:r>
            <a:r>
              <a:rPr lang="en-US" sz="2000" err="1">
                <a:ea typeface="+mn-lt"/>
                <a:cs typeface="+mn-lt"/>
              </a:rPr>
              <a:t>capete</a:t>
            </a:r>
            <a:r>
              <a:rPr lang="en-US" sz="20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r>
              <a:rPr lang="en-US" sz="2000" err="1">
                <a:ea typeface="+mn-lt"/>
                <a:cs typeface="+mn-lt"/>
              </a:rPr>
              <a:t>Unde</a:t>
            </a:r>
            <a:r>
              <a:rPr lang="en-US" sz="2000">
                <a:ea typeface="+mn-lt"/>
                <a:cs typeface="+mn-lt"/>
              </a:rPr>
              <a:t>: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 -𝑞∆ - </a:t>
            </a:r>
            <a:r>
              <a:rPr lang="en-US" sz="2000" err="1">
                <a:ea typeface="+mn-lt"/>
                <a:cs typeface="+mn-lt"/>
              </a:rPr>
              <a:t>poziția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finală</a:t>
            </a:r>
            <a:endParaRPr lang="en-US" err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 -𝑞0 – </a:t>
            </a:r>
            <a:r>
              <a:rPr lang="en-US" sz="2000" err="1">
                <a:ea typeface="+mn-lt"/>
                <a:cs typeface="+mn-lt"/>
              </a:rPr>
              <a:t>poziția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inițială</a:t>
            </a:r>
            <a:r>
              <a:rPr lang="en-US" sz="2000">
                <a:ea typeface="+mn-lt"/>
                <a:cs typeface="+mn-lt"/>
              </a:rPr>
              <a:t> </a:t>
            </a:r>
            <a:endParaRPr lang="en-US"/>
          </a:p>
          <a:p>
            <a:pPr marL="0" indent="0">
              <a:buNone/>
            </a:pPr>
            <a:r>
              <a:rPr lang="en-US" sz="2000" b="1" err="1">
                <a:ea typeface="+mn-lt"/>
                <a:cs typeface="+mn-lt"/>
              </a:rPr>
              <a:t>Tipul</a:t>
            </a: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traiectoriei</a:t>
            </a:r>
            <a:r>
              <a:rPr lang="en-US" sz="2000" b="1">
                <a:ea typeface="+mn-lt"/>
                <a:cs typeface="+mn-lt"/>
              </a:rPr>
              <a:t>: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Traiectoria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fizică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dintre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cele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două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puncte</a:t>
            </a:r>
            <a:r>
              <a:rPr lang="en-US" sz="2000">
                <a:ea typeface="+mn-lt"/>
                <a:cs typeface="+mn-lt"/>
              </a:rPr>
              <a:t> nu </a:t>
            </a:r>
            <a:r>
              <a:rPr lang="en-US" sz="2000" err="1">
                <a:ea typeface="+mn-lt"/>
                <a:cs typeface="+mn-lt"/>
              </a:rPr>
              <a:t>este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impusă</a:t>
            </a:r>
            <a:r>
              <a:rPr lang="en-US" sz="2000">
                <a:ea typeface="+mn-lt"/>
                <a:cs typeface="+mn-lt"/>
              </a:rPr>
              <a:t> implicit. </a:t>
            </a:r>
            <a:r>
              <a:rPr lang="en-US" sz="2000" err="1">
                <a:ea typeface="+mn-lt"/>
                <a:cs typeface="+mn-lt"/>
              </a:rPr>
              <a:t>Dacă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este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necesar</a:t>
            </a:r>
            <a:r>
              <a:rPr lang="en-US" sz="2000">
                <a:ea typeface="+mn-lt"/>
                <a:cs typeface="+mn-lt"/>
              </a:rPr>
              <a:t> un control strict al </a:t>
            </a:r>
            <a:r>
              <a:rPr lang="en-US" sz="2000" err="1">
                <a:ea typeface="+mn-lt"/>
                <a:cs typeface="+mn-lt"/>
              </a:rPr>
              <a:t>traseului</a:t>
            </a:r>
            <a:r>
              <a:rPr lang="en-US" sz="2000">
                <a:ea typeface="+mn-lt"/>
                <a:cs typeface="+mn-lt"/>
              </a:rPr>
              <a:t>, se </a:t>
            </a:r>
            <a:r>
              <a:rPr lang="en-US" sz="2000" err="1">
                <a:ea typeface="+mn-lt"/>
                <a:cs typeface="+mn-lt"/>
              </a:rPr>
              <a:t>definesc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puncte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intermediare</a:t>
            </a:r>
            <a:r>
              <a:rPr lang="en-US" sz="20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 </a:t>
            </a:r>
            <a:endParaRPr lang="en-US" sz="2000"/>
          </a:p>
          <a:p>
            <a:endParaRPr lang="en-US" sz="200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D86C4FA2-A0E0-E221-0C40-FCAC91214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184" y="1518970"/>
            <a:ext cx="3781051" cy="3176082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17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C557D2-1C93-695F-F524-C6335AEF4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Cod Matlab</a:t>
            </a:r>
          </a:p>
        </p:txBody>
      </p:sp>
      <p:pic>
        <p:nvPicPr>
          <p:cNvPr id="4" name="Content Placeholder 3" descr="A computer code with green and white text&#10;&#10;AI-generated content may be incorrect.">
            <a:extLst>
              <a:ext uri="{FF2B5EF4-FFF2-40B4-BE49-F238E27FC236}">
                <a16:creationId xmlns:a16="http://schemas.microsoft.com/office/drawing/2014/main" id="{3DF15D33-4F9C-6B3E-1FDF-C4B73D1EA6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040139"/>
            <a:ext cx="11327549" cy="430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7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owchart: Document 13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080E8E-218C-A389-5AAA-352010509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Poziția, viteza și accelerația pentru coordonatele testate</a:t>
            </a:r>
          </a:p>
        </p:txBody>
      </p:sp>
      <p:pic>
        <p:nvPicPr>
          <p:cNvPr id="4" name="Content Placeholder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9C05C65-F874-1344-09C7-18FDE75E74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4893" y="640080"/>
            <a:ext cx="7313616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003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EAF3E3-D382-830F-94B4-90A646F3A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Arhitectura Mecanică a Robotului</a:t>
            </a:r>
            <a:endParaRPr lang="en-US" sz="5400"/>
          </a:p>
        </p:txBody>
      </p:sp>
      <p:sp>
        <p:nvSpPr>
          <p:cNvPr id="25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C3E41-168C-6AEF-0761-E5B984160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err="1">
                <a:ea typeface="+mn-lt"/>
                <a:cs typeface="+mn-lt"/>
              </a:rPr>
              <a:t>Configurație</a:t>
            </a: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Cinematică</a:t>
            </a:r>
            <a:r>
              <a:rPr lang="en-US" sz="2000" b="1">
                <a:ea typeface="+mn-lt"/>
                <a:cs typeface="+mn-lt"/>
              </a:rPr>
              <a:t>: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Sistemul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este</a:t>
            </a:r>
            <a:r>
              <a:rPr lang="en-US" sz="2000">
                <a:ea typeface="+mn-lt"/>
                <a:cs typeface="+mn-lt"/>
              </a:rPr>
              <a:t> un </a:t>
            </a:r>
            <a:r>
              <a:rPr lang="en-US" sz="2000" err="1">
                <a:ea typeface="+mn-lt"/>
                <a:cs typeface="+mn-lt"/>
              </a:rPr>
              <a:t>braț</a:t>
            </a:r>
            <a:r>
              <a:rPr lang="en-US" sz="2000">
                <a:ea typeface="+mn-lt"/>
                <a:cs typeface="+mn-lt"/>
              </a:rPr>
              <a:t> robotic de tip serial Z – X – X – X – Z (</a:t>
            </a:r>
            <a:r>
              <a:rPr lang="en-US" sz="2000" err="1">
                <a:ea typeface="+mn-lt"/>
                <a:cs typeface="+mn-lt"/>
              </a:rPr>
              <a:t>axele</a:t>
            </a:r>
            <a:r>
              <a:rPr lang="en-US" sz="2000">
                <a:ea typeface="+mn-lt"/>
                <a:cs typeface="+mn-lt"/>
              </a:rPr>
              <a:t> de </a:t>
            </a:r>
            <a:r>
              <a:rPr lang="en-US" sz="2000" err="1">
                <a:ea typeface="+mn-lt"/>
                <a:cs typeface="+mn-lt"/>
              </a:rPr>
              <a:t>rotație</a:t>
            </a:r>
            <a:r>
              <a:rPr lang="en-US" sz="2000">
                <a:ea typeface="+mn-lt"/>
                <a:cs typeface="+mn-lt"/>
              </a:rPr>
              <a:t>).</a:t>
            </a:r>
            <a:endParaRPr lang="en-US" sz="2000"/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Grade de Libertate (</a:t>
            </a:r>
            <a:r>
              <a:rPr lang="en-US" sz="2000" b="1" err="1">
                <a:ea typeface="+mn-lt"/>
                <a:cs typeface="+mn-lt"/>
              </a:rPr>
              <a:t>DoF</a:t>
            </a:r>
            <a:r>
              <a:rPr lang="en-US" sz="2000" b="1">
                <a:ea typeface="+mn-lt"/>
                <a:cs typeface="+mn-lt"/>
              </a:rPr>
              <a:t>):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 b="1" err="1">
                <a:ea typeface="+mn-lt"/>
                <a:cs typeface="+mn-lt"/>
              </a:rPr>
              <a:t>În</a:t>
            </a: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simulare</a:t>
            </a:r>
            <a:r>
              <a:rPr lang="en-US" sz="2000" b="1">
                <a:ea typeface="+mn-lt"/>
                <a:cs typeface="+mn-lt"/>
              </a:rPr>
              <a:t> (5 </a:t>
            </a:r>
            <a:r>
              <a:rPr lang="en-US" sz="2000" b="1" err="1">
                <a:ea typeface="+mn-lt"/>
                <a:cs typeface="+mn-lt"/>
              </a:rPr>
              <a:t>DoF</a:t>
            </a:r>
            <a:r>
              <a:rPr lang="en-US" sz="2000" b="1">
                <a:ea typeface="+mn-lt"/>
                <a:cs typeface="+mn-lt"/>
              </a:rPr>
              <a:t>):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Pentru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generarea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traiectoriilor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și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calculele</a:t>
            </a:r>
            <a:r>
              <a:rPr lang="en-US" sz="2000">
                <a:ea typeface="+mn-lt"/>
                <a:cs typeface="+mn-lt"/>
              </a:rPr>
              <a:t> de </a:t>
            </a:r>
            <a:r>
              <a:rPr lang="en-US" sz="2000" err="1">
                <a:ea typeface="+mn-lt"/>
                <a:cs typeface="+mn-lt"/>
              </a:rPr>
              <a:t>cinematică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inversă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prezentate</a:t>
            </a:r>
            <a:r>
              <a:rPr lang="en-US" sz="200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robotul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este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modelat</a:t>
            </a:r>
            <a:r>
              <a:rPr lang="en-US" sz="2000">
                <a:ea typeface="+mn-lt"/>
                <a:cs typeface="+mn-lt"/>
              </a:rPr>
              <a:t> cu 5 grade de libertate.</a:t>
            </a:r>
          </a:p>
          <a:p>
            <a:pPr>
              <a:buFont typeface="Arial"/>
              <a:buChar char="•"/>
            </a:pPr>
            <a:r>
              <a:rPr lang="en-US" sz="2000" b="1" err="1">
                <a:ea typeface="+mn-lt"/>
                <a:cs typeface="+mn-lt"/>
              </a:rPr>
              <a:t>În</a:t>
            </a: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realitate</a:t>
            </a:r>
            <a:r>
              <a:rPr lang="en-US" sz="2000" b="1">
                <a:ea typeface="+mn-lt"/>
                <a:cs typeface="+mn-lt"/>
              </a:rPr>
              <a:t> (6 </a:t>
            </a:r>
            <a:r>
              <a:rPr lang="en-US" sz="2000" b="1" err="1">
                <a:ea typeface="+mn-lt"/>
                <a:cs typeface="+mn-lt"/>
              </a:rPr>
              <a:t>DoF</a:t>
            </a:r>
            <a:r>
              <a:rPr lang="en-US" sz="2000" b="1">
                <a:ea typeface="+mn-lt"/>
                <a:cs typeface="+mn-lt"/>
              </a:rPr>
              <a:t>):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Sistemul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fizic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dispune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efectiv</a:t>
            </a:r>
            <a:r>
              <a:rPr lang="en-US" sz="2000">
                <a:ea typeface="+mn-lt"/>
                <a:cs typeface="+mn-lt"/>
              </a:rPr>
              <a:t> de </a:t>
            </a:r>
            <a:r>
              <a:rPr lang="en-US" sz="2000" b="1">
                <a:ea typeface="+mn-lt"/>
                <a:cs typeface="+mn-lt"/>
              </a:rPr>
              <a:t>6 grade de libertate</a:t>
            </a:r>
            <a:r>
              <a:rPr lang="en-US" sz="2000">
                <a:ea typeface="+mn-lt"/>
                <a:cs typeface="+mn-lt"/>
              </a:rPr>
              <a:t>. </a:t>
            </a:r>
            <a:r>
              <a:rPr lang="en-US" sz="2000" err="1">
                <a:ea typeface="+mn-lt"/>
                <a:cs typeface="+mn-lt"/>
              </a:rPr>
              <a:t>Diferența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provine</a:t>
            </a:r>
            <a:r>
              <a:rPr lang="en-US" sz="2000">
                <a:ea typeface="+mn-lt"/>
                <a:cs typeface="+mn-lt"/>
              </a:rPr>
              <a:t> din </a:t>
            </a:r>
            <a:r>
              <a:rPr lang="en-US" sz="2000" err="1">
                <a:ea typeface="+mn-lt"/>
                <a:cs typeface="+mn-lt"/>
              </a:rPr>
              <a:t>faptul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că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acțiunea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prehensorului</a:t>
            </a:r>
            <a:r>
              <a:rPr lang="en-US" sz="2000">
                <a:ea typeface="+mn-lt"/>
                <a:cs typeface="+mn-lt"/>
              </a:rPr>
              <a:t> (</a:t>
            </a:r>
            <a:r>
              <a:rPr lang="en-US" sz="2000" err="1">
                <a:ea typeface="+mn-lt"/>
                <a:cs typeface="+mn-lt"/>
              </a:rPr>
              <a:t>mecanismul</a:t>
            </a:r>
            <a:r>
              <a:rPr lang="en-US" sz="2000">
                <a:ea typeface="+mn-lt"/>
                <a:cs typeface="+mn-lt"/>
              </a:rPr>
              <a:t> de </a:t>
            </a:r>
            <a:r>
              <a:rPr lang="en-US" sz="2000" err="1">
                <a:ea typeface="+mn-lt"/>
                <a:cs typeface="+mn-lt"/>
              </a:rPr>
              <a:t>prindere</a:t>
            </a:r>
            <a:r>
              <a:rPr lang="en-US" sz="2000">
                <a:ea typeface="+mn-lt"/>
                <a:cs typeface="+mn-lt"/>
              </a:rPr>
              <a:t>) nu </a:t>
            </a:r>
            <a:r>
              <a:rPr lang="en-US" sz="2000" err="1">
                <a:ea typeface="+mn-lt"/>
                <a:cs typeface="+mn-lt"/>
              </a:rPr>
              <a:t>este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inclusă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în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simularea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matematică</a:t>
            </a:r>
            <a:r>
              <a:rPr lang="en-US" sz="2000">
                <a:ea typeface="+mn-lt"/>
                <a:cs typeface="+mn-lt"/>
              </a:rPr>
              <a:t> a </a:t>
            </a:r>
            <a:r>
              <a:rPr lang="en-US" sz="2000" err="1">
                <a:ea typeface="+mn-lt"/>
                <a:cs typeface="+mn-lt"/>
              </a:rPr>
              <a:t>deplasării</a:t>
            </a:r>
            <a:r>
              <a:rPr lang="en-US" sz="200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aceasta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fiind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tratată</a:t>
            </a:r>
            <a:r>
              <a:rPr lang="en-US" sz="2000">
                <a:ea typeface="+mn-lt"/>
                <a:cs typeface="+mn-lt"/>
              </a:rPr>
              <a:t> ca o </a:t>
            </a:r>
            <a:r>
              <a:rPr lang="en-US" sz="2000" err="1">
                <a:ea typeface="+mn-lt"/>
                <a:cs typeface="+mn-lt"/>
              </a:rPr>
              <a:t>operațiune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distinctă</a:t>
            </a:r>
            <a:r>
              <a:rPr lang="en-US" sz="2000">
                <a:ea typeface="+mn-lt"/>
                <a:cs typeface="+mn-lt"/>
              </a:rPr>
              <a:t> de </a:t>
            </a:r>
            <a:r>
              <a:rPr lang="en-US" sz="2000" err="1">
                <a:ea typeface="+mn-lt"/>
                <a:cs typeface="+mn-lt"/>
              </a:rPr>
              <a:t>transportul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obiectului</a:t>
            </a:r>
            <a:r>
              <a:rPr lang="en-US" sz="20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 sz="2000" b="1"/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8BD76C5E-6C2E-A7DE-1F84-254A132F60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66" r="14289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648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B5EF9E-B73C-B530-4389-274BA213B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5400"/>
              <a:t>CAD-SIMULINK</a:t>
            </a:r>
            <a:endParaRPr lang="en-US" sz="5400" b="1">
              <a:latin typeface="Aptos"/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71539-91CA-EAF9-CD3C-E1D1DB1D1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200">
                <a:ea typeface="+mn-lt"/>
                <a:cs typeface="+mn-lt"/>
              </a:rPr>
              <a:t>Modelul CAD </a:t>
            </a:r>
            <a:r>
              <a:rPr lang="en-US" sz="2200" err="1">
                <a:ea typeface="+mn-lt"/>
                <a:cs typeface="+mn-lt"/>
              </a:rPr>
              <a:t>complet</a:t>
            </a:r>
            <a:r>
              <a:rPr lang="en-US" sz="2200">
                <a:ea typeface="+mn-lt"/>
                <a:cs typeface="+mn-lt"/>
              </a:rPr>
              <a:t> a </a:t>
            </a:r>
            <a:r>
              <a:rPr lang="en-US" sz="2200" err="1">
                <a:ea typeface="+mn-lt"/>
                <a:cs typeface="+mn-lt"/>
              </a:rPr>
              <a:t>fost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descompus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în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piese</a:t>
            </a:r>
            <a:r>
              <a:rPr lang="en-US" sz="2200">
                <a:ea typeface="+mn-lt"/>
                <a:cs typeface="+mn-lt"/>
              </a:rPr>
              <a:t>.</a:t>
            </a:r>
          </a:p>
          <a:p>
            <a:pPr>
              <a:buNone/>
            </a:pPr>
            <a:r>
              <a:rPr lang="en-US" sz="2200" err="1">
                <a:ea typeface="+mn-lt"/>
                <a:cs typeface="+mn-lt"/>
              </a:rPr>
              <a:t>Structura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este</a:t>
            </a:r>
            <a:r>
              <a:rPr lang="en-US" sz="2200">
                <a:ea typeface="+mn-lt"/>
                <a:cs typeface="+mn-lt"/>
              </a:rPr>
              <a:t> de tip </a:t>
            </a:r>
            <a:r>
              <a:rPr lang="en-US" sz="2200" b="1" err="1">
                <a:ea typeface="+mn-lt"/>
                <a:cs typeface="+mn-lt"/>
              </a:rPr>
              <a:t>Lanț</a:t>
            </a:r>
            <a:r>
              <a:rPr lang="en-US" sz="2200" b="1">
                <a:ea typeface="+mn-lt"/>
                <a:cs typeface="+mn-lt"/>
              </a:rPr>
              <a:t> Serial</a:t>
            </a:r>
            <a:r>
              <a:rPr lang="en-US" sz="2200">
                <a:ea typeface="+mn-lt"/>
                <a:cs typeface="+mn-lt"/>
              </a:rPr>
              <a:t>: Corp 1 -&gt; </a:t>
            </a:r>
            <a:r>
              <a:rPr lang="en-US" sz="2200" err="1">
                <a:ea typeface="+mn-lt"/>
                <a:cs typeface="+mn-lt"/>
              </a:rPr>
              <a:t>Articulație</a:t>
            </a:r>
            <a:r>
              <a:rPr lang="en-US" sz="2200">
                <a:ea typeface="+mn-lt"/>
                <a:cs typeface="+mn-lt"/>
              </a:rPr>
              <a:t> 1 -&gt; Corp 2 -&gt;… ( pot fi </a:t>
            </a:r>
            <a:r>
              <a:rPr lang="en-US" sz="2200" err="1">
                <a:ea typeface="+mn-lt"/>
                <a:cs typeface="+mn-lt"/>
              </a:rPr>
              <a:t>și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doar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elemente</a:t>
            </a:r>
            <a:r>
              <a:rPr lang="en-US" sz="2200">
                <a:ea typeface="+mn-lt"/>
                <a:cs typeface="+mn-lt"/>
              </a:rPr>
              <a:t> de </a:t>
            </a:r>
            <a:r>
              <a:rPr lang="en-US" sz="2200" err="1">
                <a:ea typeface="+mn-lt"/>
                <a:cs typeface="+mn-lt"/>
              </a:rPr>
              <a:t>legătură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între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corpuri</a:t>
            </a:r>
            <a:r>
              <a:rPr lang="en-US" sz="2200">
                <a:ea typeface="+mn-lt"/>
                <a:cs typeface="+mn-lt"/>
              </a:rPr>
              <a:t>).</a:t>
            </a:r>
          </a:p>
          <a:p>
            <a:pPr>
              <a:buNone/>
            </a:pPr>
            <a:r>
              <a:rPr lang="en-US" sz="2200" err="1"/>
              <a:t>În</a:t>
            </a:r>
            <a:r>
              <a:rPr lang="en-US" sz="2200"/>
              <a:t> </a:t>
            </a:r>
            <a:r>
              <a:rPr lang="en-US" sz="2200" err="1"/>
              <a:t>poză</a:t>
            </a:r>
            <a:r>
              <a:rPr lang="en-US" sz="2200"/>
              <a:t> </a:t>
            </a:r>
            <a:r>
              <a:rPr lang="en-US" sz="2200" err="1"/>
              <a:t>este</a:t>
            </a:r>
            <a:r>
              <a:rPr lang="en-US" sz="2200"/>
              <a:t> </a:t>
            </a:r>
            <a:r>
              <a:rPr lang="en-US" sz="2200" err="1"/>
              <a:t>prezentată</a:t>
            </a:r>
            <a:r>
              <a:rPr lang="en-US" sz="2200"/>
              <a:t> Baza.</a:t>
            </a:r>
          </a:p>
        </p:txBody>
      </p:sp>
      <p:pic>
        <p:nvPicPr>
          <p:cNvPr id="4" name="Picture 3" descr="A drawing of a machine&#10;&#10;AI-generated content may be incorrect.">
            <a:extLst>
              <a:ext uri="{FF2B5EF4-FFF2-40B4-BE49-F238E27FC236}">
                <a16:creationId xmlns:a16="http://schemas.microsoft.com/office/drawing/2014/main" id="{059F7CDF-BA16-6710-0B93-FF2236048B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32" r="144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34310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DD74D-1C3B-6C88-502E-38063FD1E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+mj-lt"/>
                <a:cs typeface="+mj-lt"/>
              </a:rPr>
              <a:t>Blockuri</a:t>
            </a:r>
            <a:r>
              <a:rPr lang="en-US">
                <a:ea typeface="+mj-lt"/>
                <a:cs typeface="+mj-lt"/>
              </a:rPr>
              <a:t> de </a:t>
            </a:r>
            <a:r>
              <a:rPr lang="en-US" err="1">
                <a:ea typeface="+mj-lt"/>
                <a:cs typeface="+mj-lt"/>
              </a:rPr>
              <a:t>bază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în</a:t>
            </a:r>
            <a:r>
              <a:rPr lang="en-US">
                <a:ea typeface="+mj-lt"/>
                <a:cs typeface="+mj-lt"/>
              </a:rPr>
              <a:t> Simulink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154F5-1534-AE34-22EE-10963AD47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buNone/>
            </a:pPr>
            <a:r>
              <a:rPr lang="en-US" b="1">
                <a:ea typeface="+mn-lt"/>
                <a:cs typeface="+mn-lt"/>
              </a:rPr>
              <a:t>1. World Frame (</a:t>
            </a:r>
            <a:r>
              <a:rPr lang="en-US" b="1" err="1">
                <a:ea typeface="+mn-lt"/>
                <a:cs typeface="+mn-lt"/>
              </a:rPr>
              <a:t>Cadrul</a:t>
            </a:r>
            <a:r>
              <a:rPr lang="en-US" b="1">
                <a:ea typeface="+mn-lt"/>
                <a:cs typeface="+mn-lt"/>
              </a:rPr>
              <a:t> de </a:t>
            </a:r>
            <a:r>
              <a:rPr lang="en-US" b="1" err="1">
                <a:ea typeface="+mn-lt"/>
                <a:cs typeface="+mn-lt"/>
              </a:rPr>
              <a:t>Referință</a:t>
            </a:r>
            <a:r>
              <a:rPr lang="en-US" b="1">
                <a:ea typeface="+mn-lt"/>
                <a:cs typeface="+mn-lt"/>
              </a:rPr>
              <a:t> Global)</a:t>
            </a:r>
            <a:endParaRPr lang="en-US"/>
          </a:p>
          <a:p>
            <a:pPr marL="0" indent="0">
              <a:buNone/>
            </a:pPr>
            <a:r>
              <a:rPr lang="en-US" err="1">
                <a:ea typeface="+mn-lt"/>
                <a:cs typeface="+mn-lt"/>
              </a:rPr>
              <a:t>Reprezintă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sistemul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referință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inerțial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aflat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repaus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absolut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buNone/>
            </a:pPr>
            <a:r>
              <a:rPr lang="en-US" err="1">
                <a:ea typeface="+mn-lt"/>
                <a:cs typeface="+mn-lt"/>
              </a:rPr>
              <a:t>Servește</a:t>
            </a:r>
            <a:r>
              <a:rPr lang="en-US">
                <a:ea typeface="+mn-lt"/>
                <a:cs typeface="+mn-lt"/>
              </a:rPr>
              <a:t> ca </a:t>
            </a:r>
            <a:r>
              <a:rPr lang="en-US" err="1">
                <a:ea typeface="+mn-lt"/>
                <a:cs typeface="+mn-lt"/>
              </a:rPr>
              <a:t>punct</a:t>
            </a:r>
            <a:r>
              <a:rPr lang="en-US">
                <a:ea typeface="+mn-lt"/>
                <a:cs typeface="+mn-lt"/>
              </a:rPr>
              <a:t> de origine fix </a:t>
            </a:r>
            <a:r>
              <a:rPr lang="en-US" err="1">
                <a:ea typeface="+mn-lt"/>
                <a:cs typeface="+mn-lt"/>
              </a:rPr>
              <a:t>față</a:t>
            </a:r>
            <a:r>
              <a:rPr lang="en-US">
                <a:ea typeface="+mn-lt"/>
                <a:cs typeface="+mn-lt"/>
              </a:rPr>
              <a:t> de care sunt definite, direct </a:t>
            </a:r>
            <a:r>
              <a:rPr lang="en-US" err="1">
                <a:ea typeface="+mn-lt"/>
                <a:cs typeface="+mn-lt"/>
              </a:rPr>
              <a:t>sau</a:t>
            </a:r>
            <a:r>
              <a:rPr lang="en-US">
                <a:ea typeface="+mn-lt"/>
                <a:cs typeface="+mn-lt"/>
              </a:rPr>
              <a:t> indirect, </a:t>
            </a:r>
            <a:r>
              <a:rPr lang="en-US" err="1">
                <a:ea typeface="+mn-lt"/>
                <a:cs typeface="+mn-lt"/>
              </a:rPr>
              <a:t>toate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celelalte</a:t>
            </a:r>
            <a:r>
              <a:rPr lang="en-US">
                <a:ea typeface="+mn-lt"/>
                <a:cs typeface="+mn-lt"/>
              </a:rPr>
              <a:t> cadre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componente</a:t>
            </a:r>
            <a:r>
              <a:rPr lang="en-US">
                <a:ea typeface="+mn-lt"/>
                <a:cs typeface="+mn-lt"/>
              </a:rPr>
              <a:t> ale </a:t>
            </a:r>
            <a:r>
              <a:rPr lang="en-US" err="1">
                <a:ea typeface="+mn-lt"/>
                <a:cs typeface="+mn-lt"/>
              </a:rPr>
              <a:t>robotului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buNone/>
            </a:pPr>
            <a:r>
              <a:rPr lang="en-US" err="1">
                <a:ea typeface="+mn-lt"/>
                <a:cs typeface="+mn-lt"/>
              </a:rPr>
              <a:t>Axele</a:t>
            </a:r>
            <a:r>
              <a:rPr lang="en-US">
                <a:ea typeface="+mn-lt"/>
                <a:cs typeface="+mn-lt"/>
              </a:rPr>
              <a:t> sunt </a:t>
            </a:r>
            <a:r>
              <a:rPr lang="en-US" err="1">
                <a:ea typeface="+mn-lt"/>
                <a:cs typeface="+mn-lt"/>
              </a:rPr>
              <a:t>ortogonale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respectă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regula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mâinii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drepte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indent="0">
              <a:buNone/>
            </a:pPr>
            <a:r>
              <a:rPr lang="en-US" b="1">
                <a:ea typeface="+mn-lt"/>
                <a:cs typeface="+mn-lt"/>
              </a:rPr>
              <a:t>2. Mechanism Configuration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Este </a:t>
            </a:r>
            <a:r>
              <a:rPr lang="en-US" err="1">
                <a:ea typeface="+mn-lt"/>
                <a:cs typeface="+mn-lt"/>
              </a:rPr>
              <a:t>responsabil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pentru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definirea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mediului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fizic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setând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gravitația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parametrii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simulare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buNone/>
            </a:pPr>
            <a:r>
              <a:rPr lang="en-US" err="1">
                <a:ea typeface="+mn-lt"/>
                <a:cs typeface="+mn-lt"/>
              </a:rPr>
              <a:t>Gestionează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parametrii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numerici</a:t>
            </a:r>
            <a:r>
              <a:rPr lang="en-US">
                <a:ea typeface="+mn-lt"/>
                <a:cs typeface="+mn-lt"/>
              </a:rPr>
              <a:t>, cum </a:t>
            </a:r>
            <a:r>
              <a:rPr lang="en-US" err="1">
                <a:ea typeface="+mn-lt"/>
                <a:cs typeface="+mn-lt"/>
              </a:rPr>
              <a:t>ar</a:t>
            </a:r>
            <a:r>
              <a:rPr lang="en-US">
                <a:ea typeface="+mn-lt"/>
                <a:cs typeface="+mn-lt"/>
              </a:rPr>
              <a:t> fi </a:t>
            </a:r>
            <a:r>
              <a:rPr lang="en-US" err="1">
                <a:ea typeface="+mn-lt"/>
                <a:cs typeface="+mn-lt"/>
              </a:rPr>
              <a:t>valorile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perturbație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pentru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liniarizare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iterațiile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articulațiilor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buNone/>
            </a:pPr>
            <a:r>
              <a:rPr lang="en-US" b="1" err="1">
                <a:ea typeface="+mn-lt"/>
                <a:cs typeface="+mn-lt"/>
              </a:rPr>
              <a:t>Notă</a:t>
            </a:r>
            <a:r>
              <a:rPr lang="en-US" b="1">
                <a:ea typeface="+mn-lt"/>
                <a:cs typeface="+mn-lt"/>
              </a:rPr>
              <a:t>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Dacă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acest</a:t>
            </a:r>
            <a:r>
              <a:rPr lang="en-US">
                <a:ea typeface="+mn-lt"/>
                <a:cs typeface="+mn-lt"/>
              </a:rPr>
              <a:t> bloc </a:t>
            </a:r>
            <a:r>
              <a:rPr lang="en-US" err="1">
                <a:ea typeface="+mn-lt"/>
                <a:cs typeface="+mn-lt"/>
              </a:rPr>
              <a:t>lipsește</a:t>
            </a:r>
            <a:r>
              <a:rPr lang="en-US">
                <a:ea typeface="+mn-lt"/>
                <a:cs typeface="+mn-lt"/>
              </a:rPr>
              <a:t> din model, </a:t>
            </a:r>
            <a:r>
              <a:rPr lang="en-US" err="1">
                <a:ea typeface="+mn-lt"/>
                <a:cs typeface="+mn-lt"/>
              </a:rPr>
              <a:t>simularea</a:t>
            </a:r>
            <a:r>
              <a:rPr lang="en-US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va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desfășura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condiții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gravitație</a:t>
            </a:r>
            <a:r>
              <a:rPr lang="en-US">
                <a:ea typeface="+mn-lt"/>
                <a:cs typeface="+mn-lt"/>
              </a:rPr>
              <a:t> zero.</a:t>
            </a:r>
            <a:endParaRPr lang="en-US"/>
          </a:p>
          <a:p>
            <a:pPr indent="0">
              <a:buNone/>
            </a:pPr>
            <a:r>
              <a:rPr lang="en-US" b="1">
                <a:ea typeface="+mn-lt"/>
                <a:cs typeface="+mn-lt"/>
              </a:rPr>
              <a:t>3. Solver Configuration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Este o </a:t>
            </a:r>
            <a:r>
              <a:rPr lang="en-US" err="1">
                <a:ea typeface="+mn-lt"/>
                <a:cs typeface="+mn-lt"/>
              </a:rPr>
              <a:t>componentă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obligatorie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pentru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orice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rețea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fizică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Simscape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buNone/>
            </a:pPr>
            <a:r>
              <a:rPr lang="en-US" err="1">
                <a:ea typeface="+mn-lt"/>
                <a:cs typeface="+mn-lt"/>
              </a:rPr>
              <a:t>Conține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setările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matematice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algoritmii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necesari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pentru</a:t>
            </a:r>
            <a:r>
              <a:rPr lang="en-US">
                <a:ea typeface="+mn-lt"/>
                <a:cs typeface="+mn-lt"/>
              </a:rPr>
              <a:t> ca solver-ul </a:t>
            </a:r>
            <a:r>
              <a:rPr lang="en-US" err="1">
                <a:ea typeface="+mn-lt"/>
                <a:cs typeface="+mn-lt"/>
              </a:rPr>
              <a:t>să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poată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iniția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executa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calculele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simulării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A close-up of a machine&#10;&#10;AI-generated content may be incorrect.">
            <a:extLst>
              <a:ext uri="{FF2B5EF4-FFF2-40B4-BE49-F238E27FC236}">
                <a16:creationId xmlns:a16="http://schemas.microsoft.com/office/drawing/2014/main" id="{39496521-2159-B7A9-4C39-EC9138DAC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183" y="1785937"/>
            <a:ext cx="1343025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464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C775C-AE2D-E4B5-19B7-22858AC53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Blockuri</a:t>
            </a:r>
            <a:r>
              <a:rPr lang="en-US"/>
              <a:t> Simulink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24254-A79B-BDCF-66A2-D1FA4BEBF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err="1"/>
              <a:t>Importul</a:t>
            </a:r>
            <a:r>
              <a:rPr lang="en-US"/>
              <a:t> </a:t>
            </a:r>
            <a:r>
              <a:rPr lang="en-US" err="1"/>
              <a:t>Geometriei</a:t>
            </a:r>
            <a:r>
              <a:rPr lang="en-US"/>
              <a:t>: Block-ul </a:t>
            </a:r>
            <a:r>
              <a:rPr lang="en-US" b="1"/>
              <a:t>File Solid</a:t>
            </a:r>
            <a:endParaRPr lang="en-US"/>
          </a:p>
          <a:p>
            <a:pPr marL="0" indent="0">
              <a:buNone/>
            </a:pPr>
            <a:r>
              <a:rPr lang="en-US" b="1" err="1">
                <a:ea typeface="+mn-lt"/>
                <a:cs typeface="+mn-lt"/>
              </a:rPr>
              <a:t>Funcție</a:t>
            </a:r>
            <a:r>
              <a:rPr lang="en-US" b="1">
                <a:ea typeface="+mn-lt"/>
                <a:cs typeface="+mn-lt"/>
              </a:rPr>
              <a:t>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Importă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fișiere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geometrice</a:t>
            </a:r>
            <a:r>
              <a:rPr lang="en-US">
                <a:ea typeface="+mn-lt"/>
                <a:cs typeface="+mn-lt"/>
              </a:rPr>
              <a:t> (de tip </a:t>
            </a:r>
            <a:r>
              <a:rPr lang="en-US">
                <a:latin typeface="Consolas"/>
              </a:rPr>
              <a:t>.</a:t>
            </a:r>
            <a:r>
              <a:rPr lang="en-US" err="1">
                <a:latin typeface="Consolas"/>
              </a:rPr>
              <a:t>CATPart</a:t>
            </a:r>
            <a:r>
              <a:rPr lang="en-US">
                <a:ea typeface="+mn-lt"/>
                <a:cs typeface="+mn-lt"/>
              </a:rPr>
              <a:t>)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mediul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simulare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err="1"/>
              <a:t>Manipularea</a:t>
            </a:r>
            <a:r>
              <a:rPr lang="en-US"/>
              <a:t> </a:t>
            </a:r>
            <a:r>
              <a:rPr lang="en-US" err="1"/>
              <a:t>și</a:t>
            </a:r>
            <a:r>
              <a:rPr lang="en-US"/>
              <a:t> </a:t>
            </a:r>
            <a:r>
              <a:rPr lang="en-US" err="1"/>
              <a:t>Asamblarea</a:t>
            </a:r>
            <a:r>
              <a:rPr lang="en-US"/>
              <a:t> </a:t>
            </a:r>
            <a:r>
              <a:rPr lang="en-US" err="1"/>
              <a:t>Corpurilor</a:t>
            </a:r>
            <a:endParaRPr lang="en-US"/>
          </a:p>
          <a:p>
            <a:pPr marL="0" indent="0">
              <a:buNone/>
            </a:pPr>
            <a:r>
              <a:rPr lang="en-US" err="1">
                <a:ea typeface="+mn-lt"/>
                <a:cs typeface="+mn-lt"/>
              </a:rPr>
              <a:t>După</a:t>
            </a:r>
            <a:r>
              <a:rPr lang="en-US">
                <a:ea typeface="+mn-lt"/>
                <a:cs typeface="+mn-lt"/>
              </a:rPr>
              <a:t> import, </a:t>
            </a:r>
            <a:r>
              <a:rPr lang="en-US" err="1">
                <a:ea typeface="+mn-lt"/>
                <a:cs typeface="+mn-lt"/>
              </a:rPr>
              <a:t>piesele</a:t>
            </a:r>
            <a:r>
              <a:rPr lang="en-US">
                <a:ea typeface="+mn-lt"/>
                <a:cs typeface="+mn-lt"/>
              </a:rPr>
              <a:t> nu sunt </a:t>
            </a:r>
            <a:r>
              <a:rPr lang="en-US" err="1">
                <a:ea typeface="+mn-lt"/>
                <a:cs typeface="+mn-lt"/>
              </a:rPr>
              <a:t>aliniate</a:t>
            </a:r>
            <a:r>
              <a:rPr lang="en-US">
                <a:ea typeface="+mn-lt"/>
                <a:cs typeface="+mn-lt"/>
              </a:rPr>
              <a:t> automat. </a:t>
            </a:r>
            <a:r>
              <a:rPr lang="en-US" err="1">
                <a:ea typeface="+mn-lt"/>
                <a:cs typeface="+mn-lt"/>
              </a:rPr>
              <a:t>Poziționarea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corectă</a:t>
            </a:r>
            <a:r>
              <a:rPr lang="en-US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realizează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prin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două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metode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principale</a:t>
            </a:r>
            <a:r>
              <a:rPr lang="en-US">
                <a:ea typeface="+mn-lt"/>
                <a:cs typeface="+mn-lt"/>
              </a:rPr>
              <a:t>: </a:t>
            </a:r>
            <a:r>
              <a:rPr lang="en-US" b="1" err="1">
                <a:ea typeface="+mn-lt"/>
                <a:cs typeface="+mn-lt"/>
              </a:rPr>
              <a:t>Potrivirea</a:t>
            </a:r>
            <a:r>
              <a:rPr lang="en-US" b="1">
                <a:ea typeface="+mn-lt"/>
                <a:cs typeface="+mn-lt"/>
              </a:rPr>
              <a:t> Frame-</a:t>
            </a:r>
            <a:r>
              <a:rPr lang="en-US" b="1" err="1">
                <a:ea typeface="+mn-lt"/>
                <a:cs typeface="+mn-lt"/>
              </a:rPr>
              <a:t>urilor</a:t>
            </a:r>
            <a:r>
              <a:rPr lang="en-US">
                <a:ea typeface="+mn-lt"/>
                <a:cs typeface="+mn-lt"/>
              </a:rPr>
              <a:t> (din block-ul File Solid)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utilizarea</a:t>
            </a:r>
            <a:r>
              <a:rPr lang="en-US">
                <a:ea typeface="+mn-lt"/>
                <a:cs typeface="+mn-lt"/>
              </a:rPr>
              <a:t> block-</a:t>
            </a:r>
            <a:r>
              <a:rPr lang="en-US" err="1">
                <a:ea typeface="+mn-lt"/>
                <a:cs typeface="+mn-lt"/>
              </a:rPr>
              <a:t>ului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Rigid Transform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/>
          </a:p>
        </p:txBody>
      </p:sp>
      <p:pic>
        <p:nvPicPr>
          <p:cNvPr id="4" name="Picture 3" descr="A logo of a file solid&#10;&#10;AI-generated content may be incorrect.">
            <a:extLst>
              <a:ext uri="{FF2B5EF4-FFF2-40B4-BE49-F238E27FC236}">
                <a16:creationId xmlns:a16="http://schemas.microsoft.com/office/drawing/2014/main" id="{7555F763-B61F-61E0-E1AF-30DE2C6C8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2648" y="594415"/>
            <a:ext cx="1334880" cy="113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25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2C75DE-44F8-F151-4077-F32512BC3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err="1"/>
              <a:t>Blockuri</a:t>
            </a:r>
            <a:r>
              <a:rPr lang="en-US" sz="5400"/>
              <a:t> Simulink</a:t>
            </a: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C62D265-59A7-5FF1-9C1A-3DF2DFC7D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559" y="2718291"/>
            <a:ext cx="4773675" cy="382866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600" b="1" err="1"/>
              <a:t>Definirea</a:t>
            </a:r>
            <a:r>
              <a:rPr lang="en-US" sz="2600" b="1"/>
              <a:t> Frame-</a:t>
            </a:r>
            <a:r>
              <a:rPr lang="en-US" sz="2600" b="1" err="1"/>
              <a:t>urilor</a:t>
            </a:r>
            <a:r>
              <a:rPr lang="en-US" sz="2600" b="1"/>
              <a:t> (</a:t>
            </a:r>
            <a:r>
              <a:rPr lang="en-US" sz="2600" b="1" err="1"/>
              <a:t>Sisteme</a:t>
            </a:r>
            <a:r>
              <a:rPr lang="en-US" sz="2600" b="1"/>
              <a:t> de </a:t>
            </a:r>
            <a:r>
              <a:rPr lang="en-US" sz="2600" b="1" err="1"/>
              <a:t>referință</a:t>
            </a:r>
            <a:r>
              <a:rPr lang="en-US" sz="2600" b="1"/>
              <a:t>):</a:t>
            </a:r>
            <a:endParaRPr lang="en-US" sz="2600"/>
          </a:p>
          <a:p>
            <a:r>
              <a:rPr lang="en-US" sz="2200"/>
              <a:t>Un </a:t>
            </a:r>
            <a:r>
              <a:rPr lang="en-US" sz="2200" i="1"/>
              <a:t>Frame</a:t>
            </a:r>
            <a:r>
              <a:rPr lang="en-US" sz="2200"/>
              <a:t> </a:t>
            </a:r>
            <a:r>
              <a:rPr lang="en-US" sz="2200" err="1"/>
              <a:t>este</a:t>
            </a:r>
            <a:r>
              <a:rPr lang="en-US" sz="2200"/>
              <a:t> un </a:t>
            </a:r>
            <a:r>
              <a:rPr lang="en-US" sz="2200" err="1"/>
              <a:t>sistem</a:t>
            </a:r>
            <a:r>
              <a:rPr lang="en-US" sz="2200"/>
              <a:t> de                </a:t>
            </a:r>
            <a:r>
              <a:rPr lang="en-US" sz="2200" err="1"/>
              <a:t>coordonate</a:t>
            </a:r>
            <a:r>
              <a:rPr lang="en-US" sz="2200"/>
              <a:t> </a:t>
            </a:r>
            <a:r>
              <a:rPr lang="en-US" sz="2200" err="1"/>
              <a:t>atașat</a:t>
            </a:r>
            <a:r>
              <a:rPr lang="en-US" sz="2200"/>
              <a:t> </a:t>
            </a:r>
            <a:r>
              <a:rPr lang="en-US" sz="2200" err="1"/>
              <a:t>unei</a:t>
            </a:r>
            <a:r>
              <a:rPr lang="en-US" sz="2200"/>
              <a:t> </a:t>
            </a:r>
            <a:r>
              <a:rPr lang="en-US" sz="2200" err="1"/>
              <a:t>suprafețe</a:t>
            </a:r>
            <a:r>
              <a:rPr lang="en-US" sz="2200"/>
              <a:t>      a </a:t>
            </a:r>
            <a:r>
              <a:rPr lang="en-US" sz="2200" err="1"/>
              <a:t>piesei</a:t>
            </a:r>
            <a:r>
              <a:rPr lang="en-US" sz="2200"/>
              <a:t>(ex: </a:t>
            </a:r>
            <a:r>
              <a:rPr lang="en-US" sz="2200" err="1"/>
              <a:t>fața</a:t>
            </a:r>
            <a:r>
              <a:rPr lang="en-US" sz="2200"/>
              <a:t> </a:t>
            </a:r>
            <a:r>
              <a:rPr lang="en-US" sz="2200" err="1"/>
              <a:t>unui</a:t>
            </a:r>
            <a:r>
              <a:rPr lang="en-US" sz="2200"/>
              <a:t> cub, </a:t>
            </a:r>
            <a:r>
              <a:rPr lang="en-US" sz="2200" err="1"/>
              <a:t>capătul</a:t>
            </a:r>
            <a:r>
              <a:rPr lang="en-US" sz="2200"/>
              <a:t>      </a:t>
            </a:r>
            <a:r>
              <a:rPr lang="en-US" sz="2200" err="1"/>
              <a:t>unei</a:t>
            </a:r>
            <a:r>
              <a:rPr lang="en-US" sz="2200"/>
              <a:t> </a:t>
            </a:r>
            <a:r>
              <a:rPr lang="en-US" sz="2200" err="1"/>
              <a:t>tije</a:t>
            </a:r>
            <a:r>
              <a:rPr lang="en-US" sz="2200"/>
              <a:t>).</a:t>
            </a:r>
            <a:endParaRPr lang="en-US"/>
          </a:p>
          <a:p>
            <a:r>
              <a:rPr lang="en-US" sz="2200" b="1"/>
              <a:t>Logica de </a:t>
            </a:r>
            <a:r>
              <a:rPr lang="en-US" sz="2200" b="1" err="1"/>
              <a:t>conectare</a:t>
            </a:r>
            <a:r>
              <a:rPr lang="en-US" sz="2200" b="1"/>
              <a:t>:</a:t>
            </a:r>
            <a:r>
              <a:rPr lang="en-US" sz="2200"/>
              <a:t> Se </a:t>
            </a:r>
            <a:r>
              <a:rPr lang="en-US" sz="2200" err="1"/>
              <a:t>creează</a:t>
            </a:r>
            <a:r>
              <a:rPr lang="en-US" sz="2200"/>
              <a:t> frame-</a:t>
            </a:r>
            <a:r>
              <a:rPr lang="en-US" sz="2200" err="1"/>
              <a:t>uri</a:t>
            </a:r>
            <a:r>
              <a:rPr lang="en-US" sz="2200"/>
              <a:t> pe </a:t>
            </a:r>
            <a:r>
              <a:rPr lang="en-US" sz="2200" err="1"/>
              <a:t>suprafețele</a:t>
            </a:r>
            <a:r>
              <a:rPr lang="en-US" sz="2200"/>
              <a:t> de contact ("</a:t>
            </a:r>
            <a:r>
              <a:rPr lang="en-US" sz="2200" err="1"/>
              <a:t>matingsurfaces</a:t>
            </a:r>
            <a:r>
              <a:rPr lang="en-US" sz="2200"/>
              <a:t>"). Frame-ul de </a:t>
            </a:r>
            <a:r>
              <a:rPr lang="en-US" sz="2200" err="1"/>
              <a:t>ieșire</a:t>
            </a:r>
            <a:r>
              <a:rPr lang="en-US" sz="2200"/>
              <a:t> al </a:t>
            </a:r>
            <a:r>
              <a:rPr lang="en-US" sz="2200" err="1"/>
              <a:t>piesei</a:t>
            </a:r>
            <a:r>
              <a:rPr lang="en-US" sz="2200"/>
              <a:t> 1 se </a:t>
            </a:r>
            <a:r>
              <a:rPr lang="en-US" sz="2200" err="1"/>
              <a:t>va</a:t>
            </a:r>
            <a:r>
              <a:rPr lang="en-US" sz="2200"/>
              <a:t> </a:t>
            </a:r>
            <a:r>
              <a:rPr lang="en-US" sz="2200" err="1"/>
              <a:t>conecta</a:t>
            </a:r>
            <a:r>
              <a:rPr lang="en-US" sz="2200"/>
              <a:t> la Frame-ul de </a:t>
            </a:r>
            <a:r>
              <a:rPr lang="en-US" sz="2200" err="1"/>
              <a:t>intrare</a:t>
            </a:r>
            <a:r>
              <a:rPr lang="en-US" sz="2200"/>
              <a:t> al </a:t>
            </a:r>
            <a:r>
              <a:rPr lang="en-US" sz="2200" err="1"/>
              <a:t>piesei</a:t>
            </a:r>
            <a:r>
              <a:rPr lang="en-US" sz="2200"/>
              <a:t> 2.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7E1FC06-C07B-82F6-A484-3152FBE8A8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90" r="-3" b="-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23398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6CDFE-D75E-D154-CC31-F70CEE406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Blockuri</a:t>
            </a:r>
            <a:r>
              <a:rPr lang="en-US"/>
              <a:t> Simulink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049BF-21DC-A30D-2040-178D00F6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Block-ul Rigid Transform</a:t>
            </a: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1. </a:t>
            </a:r>
            <a:r>
              <a:rPr lang="en-US" b="1" err="1">
                <a:ea typeface="+mn-lt"/>
                <a:cs typeface="+mn-lt"/>
              </a:rPr>
              <a:t>Definiție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și</a:t>
            </a:r>
            <a:r>
              <a:rPr lang="en-US" b="1">
                <a:ea typeface="+mn-lt"/>
                <a:cs typeface="+mn-lt"/>
              </a:rPr>
              <a:t> Rol</a:t>
            </a:r>
            <a:endParaRPr lang="en-US"/>
          </a:p>
          <a:p>
            <a:r>
              <a:rPr lang="en-US" b="1" err="1">
                <a:ea typeface="+mn-lt"/>
                <a:cs typeface="+mn-lt"/>
              </a:rPr>
              <a:t>Utilizare</a:t>
            </a:r>
            <a:r>
              <a:rPr lang="en-US" b="1">
                <a:ea typeface="+mn-lt"/>
                <a:cs typeface="+mn-lt"/>
              </a:rPr>
              <a:t>:</a:t>
            </a:r>
            <a:r>
              <a:rPr lang="en-US">
                <a:ea typeface="+mn-lt"/>
                <a:cs typeface="+mn-lt"/>
              </a:rPr>
              <a:t> Este </a:t>
            </a:r>
            <a:r>
              <a:rPr lang="en-US" err="1">
                <a:ea typeface="+mn-lt"/>
                <a:cs typeface="+mn-lt"/>
              </a:rPr>
              <a:t>esențial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atunci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când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piesele</a:t>
            </a:r>
            <a:r>
              <a:rPr lang="en-US">
                <a:ea typeface="+mn-lt"/>
                <a:cs typeface="+mn-lt"/>
              </a:rPr>
              <a:t> nu sunt </a:t>
            </a:r>
            <a:r>
              <a:rPr lang="en-US" err="1">
                <a:ea typeface="+mn-lt"/>
                <a:cs typeface="+mn-lt"/>
              </a:rPr>
              <a:t>poziționate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vizual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corect</a:t>
            </a:r>
            <a:r>
              <a:rPr lang="en-US">
                <a:ea typeface="+mn-lt"/>
                <a:cs typeface="+mn-lt"/>
              </a:rPr>
              <a:t> („</a:t>
            </a:r>
            <a:r>
              <a:rPr lang="en-US" err="1">
                <a:ea typeface="+mn-lt"/>
                <a:cs typeface="+mn-lt"/>
              </a:rPr>
              <a:t>așezate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greșit</a:t>
            </a:r>
            <a:r>
              <a:rPr lang="en-US">
                <a:ea typeface="+mn-lt"/>
                <a:cs typeface="+mn-lt"/>
              </a:rPr>
              <a:t>”) </a:t>
            </a:r>
            <a:r>
              <a:rPr lang="en-US" err="1">
                <a:ea typeface="+mn-lt"/>
                <a:cs typeface="+mn-lt"/>
              </a:rPr>
              <a:t>sau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când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orientarea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necesară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funcționării</a:t>
            </a:r>
            <a:r>
              <a:rPr lang="en-US">
                <a:ea typeface="+mn-lt"/>
                <a:cs typeface="+mn-lt"/>
              </a:rPr>
              <a:t> nu </a:t>
            </a:r>
            <a:r>
              <a:rPr lang="en-US" err="1">
                <a:ea typeface="+mn-lt"/>
                <a:cs typeface="+mn-lt"/>
              </a:rPr>
              <a:t>corespunde</a:t>
            </a:r>
            <a:r>
              <a:rPr lang="en-US">
                <a:ea typeface="+mn-lt"/>
                <a:cs typeface="+mn-lt"/>
              </a:rPr>
              <a:t> cu </a:t>
            </a:r>
            <a:r>
              <a:rPr lang="en-US" err="1">
                <a:ea typeface="+mn-lt"/>
                <a:cs typeface="+mn-lt"/>
              </a:rPr>
              <a:t>cea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implicită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2. </a:t>
            </a:r>
            <a:r>
              <a:rPr lang="en-US" b="1" err="1">
                <a:ea typeface="+mn-lt"/>
                <a:cs typeface="+mn-lt"/>
              </a:rPr>
              <a:t>Metodologie</a:t>
            </a:r>
            <a:r>
              <a:rPr lang="en-US" b="1">
                <a:ea typeface="+mn-lt"/>
                <a:cs typeface="+mn-lt"/>
              </a:rPr>
              <a:t> de </a:t>
            </a:r>
            <a:r>
              <a:rPr lang="en-US" b="1" err="1">
                <a:ea typeface="+mn-lt"/>
                <a:cs typeface="+mn-lt"/>
              </a:rPr>
              <a:t>Configurare</a:t>
            </a:r>
            <a:endParaRPr lang="en-US" err="1"/>
          </a:p>
          <a:p>
            <a:r>
              <a:rPr lang="en-US" b="1" err="1">
                <a:ea typeface="+mn-lt"/>
                <a:cs typeface="+mn-lt"/>
              </a:rPr>
              <a:t>Ajustare</a:t>
            </a:r>
            <a:r>
              <a:rPr lang="en-US" b="1">
                <a:ea typeface="+mn-lt"/>
                <a:cs typeface="+mn-lt"/>
              </a:rPr>
              <a:t>:</a:t>
            </a:r>
            <a:r>
              <a:rPr lang="en-US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realizează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prin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setarea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parametrilor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Axis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axa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rotație</a:t>
            </a:r>
            <a:r>
              <a:rPr lang="en-US">
                <a:ea typeface="+mn-lt"/>
                <a:cs typeface="+mn-lt"/>
              </a:rPr>
              <a:t>)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Angle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unghiul</a:t>
            </a:r>
            <a:r>
              <a:rPr lang="en-US">
                <a:ea typeface="+mn-lt"/>
                <a:cs typeface="+mn-lt"/>
              </a:rPr>
              <a:t>).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AE92872F-94C2-C588-2658-E2BF29049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7710" y="369094"/>
            <a:ext cx="960231" cy="132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601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D267F-AD6C-5F2F-C125-F17112CDB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Blockuri</a:t>
            </a:r>
            <a:r>
              <a:rPr lang="en-US"/>
              <a:t> Simulink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B6C6B-7CBA-2E99-010B-412E40EF9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Constrângerea Cuplelor (Joints):</a:t>
            </a:r>
            <a:r>
              <a:rPr lang="en-US">
                <a:ea typeface="+mn-lt"/>
                <a:cs typeface="+mn-lt"/>
              </a:rPr>
              <a:t> Deoarece cuplele în Simulink funcționează implicit doar pe </a:t>
            </a:r>
            <a:r>
              <a:rPr lang="en-US" b="1">
                <a:ea typeface="+mn-lt"/>
                <a:cs typeface="+mn-lt"/>
              </a:rPr>
              <a:t>axa Z</a:t>
            </a:r>
            <a:r>
              <a:rPr lang="en-US">
                <a:ea typeface="+mn-lt"/>
                <a:cs typeface="+mn-lt"/>
              </a:rPr>
              <a:t>, Rigid Transform este obligatoriu pentru a roti sistemul astfel încât axa funcțională a robotului să se alinieze cu axa Z a simulatorului.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Propagarea și Anularea:</a:t>
            </a:r>
            <a:r>
              <a:rPr lang="en-US">
                <a:ea typeface="+mn-lt"/>
                <a:cs typeface="+mn-lt"/>
              </a:rPr>
              <a:t> Un bloc Rigid Transform afectează </a:t>
            </a:r>
            <a:r>
              <a:rPr lang="en-US" b="1">
                <a:ea typeface="+mn-lt"/>
                <a:cs typeface="+mn-lt"/>
              </a:rPr>
              <a:t>toate</a:t>
            </a:r>
            <a:r>
              <a:rPr lang="en-US">
                <a:ea typeface="+mn-lt"/>
                <a:cs typeface="+mn-lt"/>
              </a:rPr>
              <a:t> obiectele conectate după el.</a:t>
            </a:r>
            <a:endParaRPr lang="en-US"/>
          </a:p>
          <a:p>
            <a:r>
              <a:rPr lang="en-US" i="1">
                <a:ea typeface="+mn-lt"/>
                <a:cs typeface="+mn-lt"/>
              </a:rPr>
              <a:t>Soluție:</a:t>
            </a:r>
            <a:r>
              <a:rPr lang="en-US">
                <a:ea typeface="+mn-lt"/>
                <a:cs typeface="+mn-lt"/>
              </a:rPr>
              <a:t> Dacă efectul trebuie să fie local, se introduce ulterior un al doilea Rigid Transform cu parametri opuși (semn schimbat) pentru a anula modificarea și a reveni la sistemul de referință anterior.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195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B3BC4-CB8A-E3E1-1AF2-DD7262EC3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Blockuri</a:t>
            </a:r>
            <a:r>
              <a:rPr lang="en-US"/>
              <a:t> Simulink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716E6-E4A5-F229-6651-6E48377AD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Actuation: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Torque: Automatically Computed:</a:t>
            </a:r>
            <a:r>
              <a:rPr lang="en-US">
                <a:ea typeface="+mn-lt"/>
                <a:cs typeface="+mn-lt"/>
              </a:rPr>
              <a:t> Nu </a:t>
            </a:r>
            <a:r>
              <a:rPr lang="en-US" err="1">
                <a:ea typeface="+mn-lt"/>
                <a:cs typeface="+mn-lt"/>
              </a:rPr>
              <a:t>îi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spui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robotului</a:t>
            </a:r>
            <a:r>
              <a:rPr lang="en-US">
                <a:ea typeface="+mn-lt"/>
                <a:cs typeface="+mn-lt"/>
              </a:rPr>
              <a:t> "cu </a:t>
            </a:r>
            <a:r>
              <a:rPr lang="en-US" err="1">
                <a:ea typeface="+mn-lt"/>
                <a:cs typeface="+mn-lt"/>
              </a:rPr>
              <a:t>ce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forță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tragă</a:t>
            </a:r>
            <a:r>
              <a:rPr lang="en-US">
                <a:ea typeface="+mn-lt"/>
                <a:cs typeface="+mn-lt"/>
              </a:rPr>
              <a:t>", ci </a:t>
            </a:r>
            <a:r>
              <a:rPr lang="en-US" err="1">
                <a:ea typeface="+mn-lt"/>
                <a:cs typeface="+mn-lt"/>
              </a:rPr>
              <a:t>lași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simulatorul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calculeze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singur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cuplul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momentul</a:t>
            </a:r>
            <a:r>
              <a:rPr lang="en-US">
                <a:ea typeface="+mn-lt"/>
                <a:cs typeface="+mn-lt"/>
              </a:rPr>
              <a:t>) </a:t>
            </a:r>
            <a:r>
              <a:rPr lang="en-US" err="1">
                <a:ea typeface="+mn-lt"/>
                <a:cs typeface="+mn-lt"/>
              </a:rPr>
              <a:t>necesar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pentru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realiza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mișcarea</a:t>
            </a:r>
            <a:r>
              <a:rPr lang="en-US">
                <a:ea typeface="+mn-lt"/>
                <a:cs typeface="+mn-lt"/>
              </a:rPr>
              <a:t> pe care o </a:t>
            </a:r>
            <a:r>
              <a:rPr lang="en-US" err="1">
                <a:ea typeface="+mn-lt"/>
                <a:cs typeface="+mn-lt"/>
              </a:rPr>
              <a:t>impui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Motion: Provided by Input: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spui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simulatorului</a:t>
            </a:r>
            <a:r>
              <a:rPr lang="en-US">
                <a:ea typeface="+mn-lt"/>
                <a:cs typeface="+mn-lt"/>
              </a:rPr>
              <a:t>: "Nu </a:t>
            </a:r>
            <a:r>
              <a:rPr lang="en-US" err="1">
                <a:ea typeface="+mn-lt"/>
                <a:cs typeface="+mn-lt"/>
              </a:rPr>
              <a:t>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mișca</a:t>
            </a:r>
            <a:r>
              <a:rPr lang="en-US">
                <a:ea typeface="+mn-lt"/>
                <a:cs typeface="+mn-lt"/>
              </a:rPr>
              <a:t> liber. </a:t>
            </a:r>
            <a:r>
              <a:rPr lang="en-US" err="1">
                <a:ea typeface="+mn-lt"/>
                <a:cs typeface="+mn-lt"/>
              </a:rPr>
              <a:t>Mișcă-te</a:t>
            </a:r>
            <a:r>
              <a:rPr lang="en-US">
                <a:ea typeface="+mn-lt"/>
                <a:cs typeface="+mn-lt"/>
              </a:rPr>
              <a:t> exact </a:t>
            </a:r>
            <a:r>
              <a:rPr lang="en-US" err="1">
                <a:ea typeface="+mn-lt"/>
                <a:cs typeface="+mn-lt"/>
              </a:rPr>
              <a:t>după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traiectoria</a:t>
            </a:r>
            <a:r>
              <a:rPr lang="en-US">
                <a:ea typeface="+mn-lt"/>
                <a:cs typeface="+mn-lt"/>
              </a:rPr>
              <a:t> pe care </a:t>
            </a:r>
            <a:r>
              <a:rPr lang="en-US" err="1">
                <a:ea typeface="+mn-lt"/>
                <a:cs typeface="+mn-lt"/>
              </a:rPr>
              <a:t>ți</a:t>
            </a:r>
            <a:r>
              <a:rPr lang="en-US">
                <a:ea typeface="+mn-lt"/>
                <a:cs typeface="+mn-lt"/>
              </a:rPr>
              <a:t>-o </a:t>
            </a:r>
            <a:r>
              <a:rPr lang="en-US" err="1">
                <a:ea typeface="+mn-lt"/>
                <a:cs typeface="+mn-lt"/>
              </a:rPr>
              <a:t>dau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eu</a:t>
            </a:r>
            <a:r>
              <a:rPr lang="en-US">
                <a:ea typeface="+mn-lt"/>
                <a:cs typeface="+mn-lt"/>
              </a:rPr>
              <a:t>". </a:t>
            </a:r>
            <a:r>
              <a:rPr lang="en-US" err="1">
                <a:ea typeface="+mn-lt"/>
                <a:cs typeface="+mn-lt"/>
              </a:rPr>
              <a:t>Această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setare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activează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portul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intrare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q</a:t>
            </a:r>
            <a:r>
              <a:rPr lang="en-US">
                <a:ea typeface="+mn-lt"/>
                <a:cs typeface="+mn-lt"/>
              </a:rPr>
              <a:t> pe </a:t>
            </a:r>
            <a:r>
              <a:rPr lang="en-US" err="1">
                <a:ea typeface="+mn-lt"/>
                <a:cs typeface="+mn-lt"/>
              </a:rPr>
              <a:t>blocul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cuplei</a:t>
            </a:r>
            <a:r>
              <a:rPr lang="en-US">
                <a:ea typeface="+mn-lt"/>
                <a:cs typeface="+mn-lt"/>
              </a:rPr>
              <a:t> din </a:t>
            </a:r>
            <a:r>
              <a:rPr lang="en-US" err="1">
                <a:ea typeface="+mn-lt"/>
                <a:cs typeface="+mn-lt"/>
              </a:rPr>
              <a:t>diagramă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Sensing: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Actuator Torque (</a:t>
            </a:r>
            <a:r>
              <a:rPr lang="en-US" b="1" err="1">
                <a:ea typeface="+mn-lt"/>
                <a:cs typeface="+mn-lt"/>
              </a:rPr>
              <a:t>Bifat</a:t>
            </a:r>
            <a:r>
              <a:rPr lang="en-US" b="1">
                <a:ea typeface="+mn-lt"/>
                <a:cs typeface="+mn-lt"/>
              </a:rPr>
              <a:t>):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Deoarece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simulatorul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calculează</a:t>
            </a:r>
            <a:r>
              <a:rPr lang="en-US">
                <a:ea typeface="+mn-lt"/>
                <a:cs typeface="+mn-lt"/>
              </a:rPr>
              <a:t> automat </a:t>
            </a:r>
            <a:r>
              <a:rPr lang="en-US" err="1">
                <a:ea typeface="+mn-lt"/>
                <a:cs typeface="+mn-lt"/>
              </a:rPr>
              <a:t>cuplul</a:t>
            </a:r>
            <a:r>
              <a:rPr lang="en-US">
                <a:ea typeface="+mn-lt"/>
                <a:cs typeface="+mn-lt"/>
              </a:rPr>
              <a:t>, se </a:t>
            </a:r>
            <a:r>
              <a:rPr lang="en-US" err="1">
                <a:ea typeface="+mn-lt"/>
                <a:cs typeface="+mn-lt"/>
              </a:rPr>
              <a:t>bifează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această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opțiune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pentru</a:t>
            </a:r>
            <a:r>
              <a:rPr lang="en-US">
                <a:ea typeface="+mn-lt"/>
                <a:cs typeface="+mn-lt"/>
              </a:rPr>
              <a:t> a "</a:t>
            </a:r>
            <a:r>
              <a:rPr lang="en-US" err="1">
                <a:ea typeface="+mn-lt"/>
                <a:cs typeface="+mn-lt"/>
              </a:rPr>
              <a:t>măsura</a:t>
            </a:r>
            <a:r>
              <a:rPr lang="en-US">
                <a:ea typeface="+mn-lt"/>
                <a:cs typeface="+mn-lt"/>
              </a:rPr>
              <a:t>" </a:t>
            </a:r>
            <a:r>
              <a:rPr lang="en-US" err="1">
                <a:ea typeface="+mn-lt"/>
                <a:cs typeface="+mn-lt"/>
              </a:rPr>
              <a:t>acel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calcul</a:t>
            </a:r>
            <a:r>
              <a:rPr lang="en-US">
                <a:ea typeface="+mn-lt"/>
                <a:cs typeface="+mn-lt"/>
              </a:rPr>
              <a:t>. </a:t>
            </a:r>
            <a:r>
              <a:rPr lang="en-US" err="1">
                <a:ea typeface="+mn-lt"/>
                <a:cs typeface="+mn-lt"/>
              </a:rPr>
              <a:t>Aceasta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activează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portul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ieșire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t</a:t>
            </a:r>
            <a:r>
              <a:rPr lang="en-US">
                <a:ea typeface="+mn-lt"/>
                <a:cs typeface="+mn-lt"/>
              </a:rPr>
              <a:t> (torque) de pe bloc, </a:t>
            </a:r>
            <a:r>
              <a:rPr lang="en-US" err="1">
                <a:ea typeface="+mn-lt"/>
                <a:cs typeface="+mn-lt"/>
              </a:rPr>
              <a:t>permițându-ți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vezi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cât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mult</a:t>
            </a:r>
            <a:r>
              <a:rPr lang="en-US">
                <a:ea typeface="+mn-lt"/>
                <a:cs typeface="+mn-lt"/>
              </a:rPr>
              <a:t> "</a:t>
            </a:r>
            <a:r>
              <a:rPr lang="en-US" err="1">
                <a:ea typeface="+mn-lt"/>
                <a:cs typeface="+mn-lt"/>
              </a:rPr>
              <a:t>efort</a:t>
            </a:r>
            <a:r>
              <a:rPr lang="en-US">
                <a:ea typeface="+mn-lt"/>
                <a:cs typeface="+mn-lt"/>
              </a:rPr>
              <a:t>" </a:t>
            </a:r>
            <a:r>
              <a:rPr lang="en-US" err="1">
                <a:ea typeface="+mn-lt"/>
                <a:cs typeface="+mn-lt"/>
              </a:rPr>
              <a:t>depune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motorul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pentru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executa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traiectoria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F19C3667-2653-6734-ECFD-C9F2E47D8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6702" y="361407"/>
            <a:ext cx="1293190" cy="133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598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91C1E-1CCE-4C9E-6954-12C376F05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Blockuri</a:t>
            </a:r>
            <a:r>
              <a:rPr lang="en-US"/>
              <a:t> Simulink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D666D-4A48-4F99-6D90-68146CE45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From Workspace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Rol: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Acestea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importă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datele</a:t>
            </a:r>
            <a:r>
              <a:rPr lang="en-US">
                <a:ea typeface="+mn-lt"/>
                <a:cs typeface="+mn-lt"/>
              </a:rPr>
              <a:t> calculate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MATLAB direct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simulare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b="1"/>
              <a:t>To Workspace</a:t>
            </a: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Rol: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Blocul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preia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rezultatul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simulării</a:t>
            </a:r>
            <a:r>
              <a:rPr lang="en-US">
                <a:ea typeface="+mn-lt"/>
                <a:cs typeface="+mn-lt"/>
              </a:rPr>
              <a:t> – </a:t>
            </a:r>
            <a:r>
              <a:rPr lang="en-US" err="1">
                <a:ea typeface="+mn-lt"/>
                <a:cs typeface="+mn-lt"/>
              </a:rPr>
              <a:t>momentul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calculat</a:t>
            </a:r>
            <a:r>
              <a:rPr lang="en-US">
                <a:ea typeface="+mn-lt"/>
                <a:cs typeface="+mn-lt"/>
              </a:rPr>
              <a:t> –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salvează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într</a:t>
            </a:r>
            <a:r>
              <a:rPr lang="en-US">
                <a:ea typeface="+mn-lt"/>
                <a:cs typeface="+mn-lt"/>
              </a:rPr>
              <a:t>-o </a:t>
            </a:r>
            <a:r>
              <a:rPr lang="en-US" err="1">
                <a:ea typeface="+mn-lt"/>
                <a:cs typeface="+mn-lt"/>
              </a:rPr>
              <a:t>variabilă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MATLAB.</a:t>
            </a:r>
            <a:endParaRPr lang="en-US"/>
          </a:p>
          <a:p>
            <a:r>
              <a:rPr lang="en-US" b="1" err="1"/>
              <a:t>Convertoarele</a:t>
            </a:r>
            <a:r>
              <a:rPr lang="en-US" b="1"/>
              <a:t> (Simulink-PS Converter &amp; PS-Simulink Converter)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Acestea</a:t>
            </a:r>
            <a:r>
              <a:rPr lang="en-US">
                <a:ea typeface="+mn-lt"/>
                <a:cs typeface="+mn-lt"/>
              </a:rPr>
              <a:t> sunt </a:t>
            </a:r>
            <a:r>
              <a:rPr lang="en-US" err="1">
                <a:ea typeface="+mn-lt"/>
                <a:cs typeface="+mn-lt"/>
              </a:rPr>
              <a:t>esențiale</a:t>
            </a:r>
            <a:r>
              <a:rPr lang="en-US">
                <a:ea typeface="+mn-lt"/>
                <a:cs typeface="+mn-lt"/>
              </a:rPr>
              <a:t> din </a:t>
            </a:r>
            <a:r>
              <a:rPr lang="en-US" err="1">
                <a:ea typeface="+mn-lt"/>
                <a:cs typeface="+mn-lt"/>
              </a:rPr>
              <a:t>cauza</a:t>
            </a:r>
            <a:r>
              <a:rPr lang="en-US">
                <a:ea typeface="+mn-lt"/>
                <a:cs typeface="+mn-lt"/>
              </a:rPr>
              <a:t> "</a:t>
            </a:r>
            <a:r>
              <a:rPr lang="en-US" err="1">
                <a:ea typeface="+mn-lt"/>
                <a:cs typeface="+mn-lt"/>
              </a:rPr>
              <a:t>barierei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limbaj</a:t>
            </a:r>
            <a:r>
              <a:rPr lang="en-US">
                <a:ea typeface="+mn-lt"/>
                <a:cs typeface="+mn-lt"/>
              </a:rPr>
              <a:t>" </a:t>
            </a:r>
            <a:r>
              <a:rPr lang="en-US" err="1">
                <a:ea typeface="+mn-lt"/>
                <a:cs typeface="+mn-lt"/>
              </a:rPr>
              <a:t>dintre</a:t>
            </a:r>
            <a:r>
              <a:rPr lang="en-US">
                <a:ea typeface="+mn-lt"/>
                <a:cs typeface="+mn-lt"/>
              </a:rPr>
              <a:t> Simulink </a:t>
            </a:r>
            <a:r>
              <a:rPr lang="en-US" err="1">
                <a:ea typeface="+mn-lt"/>
                <a:cs typeface="+mn-lt"/>
              </a:rPr>
              <a:t>clasic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Simscape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/>
          </a:p>
        </p:txBody>
      </p:sp>
      <p:pic>
        <p:nvPicPr>
          <p:cNvPr id="5" name="Picture 4" descr="A diagram of a algorithm&#10;&#10;AI-generated content may be incorrect.">
            <a:extLst>
              <a:ext uri="{FF2B5EF4-FFF2-40B4-BE49-F238E27FC236}">
                <a16:creationId xmlns:a16="http://schemas.microsoft.com/office/drawing/2014/main" id="{F849B4C2-0094-F04B-0486-EA1C608B3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059" y="86294"/>
            <a:ext cx="1600200" cy="1876425"/>
          </a:xfrm>
          <a:prstGeom prst="rect">
            <a:avLst/>
          </a:prstGeom>
        </p:spPr>
      </p:pic>
      <p:pic>
        <p:nvPicPr>
          <p:cNvPr id="6" name="Picture 5" descr="A diagram of a computer&#10;&#10;AI-generated content may be incorrect.">
            <a:extLst>
              <a:ext uri="{FF2B5EF4-FFF2-40B4-BE49-F238E27FC236}">
                <a16:creationId xmlns:a16="http://schemas.microsoft.com/office/drawing/2014/main" id="{884F3D23-DA32-C123-0E5E-390D0EC5C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1742" y="411922"/>
            <a:ext cx="226695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408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4BC35-3D0A-B1C6-C07F-FAB9DFB45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Blockuri</a:t>
            </a:r>
            <a:r>
              <a:rPr lang="en-US"/>
              <a:t> Simulink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13626-89C7-78B3-F16A-36457A971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err="1">
                <a:ea typeface="+mn-lt"/>
                <a:cs typeface="+mn-lt"/>
              </a:rPr>
              <a:t>Multiplexare</a:t>
            </a:r>
            <a:r>
              <a:rPr lang="en-US" b="1">
                <a:ea typeface="+mn-lt"/>
                <a:cs typeface="+mn-lt"/>
              </a:rPr>
              <a:t>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diagramă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cele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trei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semnale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intră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într</a:t>
            </a:r>
            <a:r>
              <a:rPr lang="en-US">
                <a:ea typeface="+mn-lt"/>
                <a:cs typeface="+mn-lt"/>
              </a:rPr>
              <a:t>-un Mux </a:t>
            </a:r>
            <a:r>
              <a:rPr lang="en-US" err="1">
                <a:ea typeface="+mn-lt"/>
                <a:cs typeface="+mn-lt"/>
              </a:rPr>
              <a:t>pentru</a:t>
            </a:r>
            <a:r>
              <a:rPr lang="en-US">
                <a:ea typeface="+mn-lt"/>
                <a:cs typeface="+mn-lt"/>
              </a:rPr>
              <a:t> a fi </a:t>
            </a:r>
            <a:r>
              <a:rPr lang="en-US" err="1">
                <a:ea typeface="+mn-lt"/>
                <a:cs typeface="+mn-lt"/>
              </a:rPr>
              <a:t>trimise</a:t>
            </a:r>
            <a:r>
              <a:rPr lang="en-US">
                <a:ea typeface="+mn-lt"/>
                <a:cs typeface="+mn-lt"/>
              </a:rPr>
              <a:t> ca un </a:t>
            </a:r>
            <a:r>
              <a:rPr lang="en-US" err="1">
                <a:ea typeface="+mn-lt"/>
                <a:cs typeface="+mn-lt"/>
              </a:rPr>
              <a:t>singur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pachet</a:t>
            </a:r>
            <a:r>
              <a:rPr lang="en-US">
                <a:ea typeface="+mn-lt"/>
                <a:cs typeface="+mn-lt"/>
              </a:rPr>
              <a:t> vector </a:t>
            </a:r>
            <a:r>
              <a:rPr lang="en-US" err="1">
                <a:ea typeface="+mn-lt"/>
                <a:cs typeface="+mn-lt"/>
              </a:rPr>
              <a:t>către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cuplă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Demux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pentru</a:t>
            </a:r>
            <a:r>
              <a:rPr lang="en-US">
                <a:ea typeface="+mn-lt"/>
                <a:cs typeface="+mn-lt"/>
              </a:rPr>
              <a:t> un </a:t>
            </a:r>
            <a:r>
              <a:rPr lang="en-US" err="1">
                <a:ea typeface="+mn-lt"/>
                <a:cs typeface="+mn-lt"/>
              </a:rPr>
              <a:t>singur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semnal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să</a:t>
            </a:r>
            <a:r>
              <a:rPr lang="en-US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împartă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mai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multe</a:t>
            </a:r>
            <a:r>
              <a:rPr lang="en-US">
                <a:ea typeface="+mn-lt"/>
                <a:cs typeface="+mn-lt"/>
              </a:rPr>
              <a:t>).</a:t>
            </a:r>
          </a:p>
          <a:p>
            <a:r>
              <a:rPr lang="en-US" b="1">
                <a:ea typeface="+mn-lt"/>
                <a:cs typeface="+mn-lt"/>
              </a:rPr>
              <a:t>Block-ul Scope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Acesta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funcționează</a:t>
            </a:r>
            <a:r>
              <a:rPr lang="en-US">
                <a:ea typeface="+mn-lt"/>
                <a:cs typeface="+mn-lt"/>
              </a:rPr>
              <a:t> similar </a:t>
            </a:r>
            <a:r>
              <a:rPr lang="en-US" err="1">
                <a:ea typeface="+mn-lt"/>
                <a:cs typeface="+mn-lt"/>
              </a:rPr>
              <a:t>unui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osciloscop</a:t>
            </a:r>
            <a:r>
              <a:rPr lang="en-US">
                <a:ea typeface="+mn-lt"/>
                <a:cs typeface="+mn-lt"/>
              </a:rPr>
              <a:t> digital, </a:t>
            </a:r>
            <a:r>
              <a:rPr lang="en-US" err="1">
                <a:ea typeface="+mn-lt"/>
                <a:cs typeface="+mn-lt"/>
              </a:rPr>
              <a:t>permițând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vizualizarea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grafică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instantanee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evoluției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semnalelor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funcție</a:t>
            </a:r>
            <a:r>
              <a:rPr lang="en-US">
                <a:ea typeface="+mn-lt"/>
                <a:cs typeface="+mn-lt"/>
              </a:rPr>
              <a:t> de timp.</a:t>
            </a:r>
            <a:endParaRPr lang="en-US"/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E0CD1F15-572B-4724-6E12-1B1338C57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997" y="3979103"/>
            <a:ext cx="1666875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053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06555-72D1-FFCF-4A0C-5D0405E3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Simulare</a:t>
            </a:r>
          </a:p>
        </p:txBody>
      </p:sp>
      <p:pic>
        <p:nvPicPr>
          <p:cNvPr id="4" name="simularevideo">
            <a:hlinkClick r:id="" action="ppaction://media"/>
            <a:extLst>
              <a:ext uri="{FF2B5EF4-FFF2-40B4-BE49-F238E27FC236}">
                <a16:creationId xmlns:a16="http://schemas.microsoft.com/office/drawing/2014/main" id="{1F20B38E-5307-0BE2-5396-3F8CCFD09A26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02428" y="836763"/>
            <a:ext cx="7225748" cy="518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64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EBCBE1-D6C1-DBF1-FFAD-DB5C81DCE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Metode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241CE-B13A-2180-DA7A-3CE1D6A06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err="1">
                <a:ea typeface="+mn-lt"/>
                <a:cs typeface="+mn-lt"/>
              </a:rPr>
              <a:t>Deși</a:t>
            </a:r>
            <a:r>
              <a:rPr lang="en-US" sz="2400">
                <a:ea typeface="+mn-lt"/>
                <a:cs typeface="+mn-lt"/>
              </a:rPr>
              <a:t> am </a:t>
            </a:r>
            <a:r>
              <a:rPr lang="en-US" sz="2400" err="1">
                <a:ea typeface="+mn-lt"/>
                <a:cs typeface="+mn-lt"/>
              </a:rPr>
              <a:t>implementat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trei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metode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distincte</a:t>
            </a:r>
            <a:r>
              <a:rPr lang="en-US" sz="2400">
                <a:ea typeface="+mn-lt"/>
                <a:cs typeface="+mn-lt"/>
              </a:rPr>
              <a:t> de </a:t>
            </a:r>
            <a:r>
              <a:rPr lang="en-US" sz="2400" err="1">
                <a:ea typeface="+mn-lt"/>
                <a:cs typeface="+mn-lt"/>
              </a:rPr>
              <a:t>abordare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fiecare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având</a:t>
            </a:r>
            <a:r>
              <a:rPr lang="en-US" sz="2400">
                <a:ea typeface="+mn-lt"/>
                <a:cs typeface="+mn-lt"/>
              </a:rPr>
              <a:t> alt set de </a:t>
            </a:r>
            <a:r>
              <a:rPr lang="en-US" sz="2400" err="1">
                <a:ea typeface="+mn-lt"/>
                <a:cs typeface="+mn-lt"/>
              </a:rPr>
              <a:t>parametri</a:t>
            </a:r>
            <a:r>
              <a:rPr lang="en-US" sz="2400">
                <a:ea typeface="+mn-lt"/>
                <a:cs typeface="+mn-lt"/>
              </a:rPr>
              <a:t> de </a:t>
            </a:r>
            <a:r>
              <a:rPr lang="en-US" sz="2400" err="1">
                <a:ea typeface="+mn-lt"/>
                <a:cs typeface="+mn-lt"/>
              </a:rPr>
              <a:t>intrare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arhitectura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sistemului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este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concepută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astfel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încât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toate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să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conveargă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către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aceeași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simulare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finală</a:t>
            </a:r>
            <a:r>
              <a:rPr lang="en-US" sz="2400">
                <a:ea typeface="+mn-lt"/>
                <a:cs typeface="+mn-lt"/>
              </a:rPr>
              <a:t>.</a:t>
            </a:r>
          </a:p>
          <a:p>
            <a:r>
              <a:rPr lang="en-US" sz="2400">
                <a:ea typeface="+mn-lt"/>
                <a:cs typeface="+mn-lt"/>
              </a:rPr>
              <a:t>Prima </a:t>
            </a:r>
            <a:r>
              <a:rPr lang="en-US" sz="2400" err="1">
                <a:ea typeface="+mn-lt"/>
                <a:cs typeface="+mn-lt"/>
              </a:rPr>
              <a:t>metodă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abordată</a:t>
            </a:r>
            <a:r>
              <a:rPr lang="en-US" sz="2400">
                <a:ea typeface="+mn-lt"/>
                <a:cs typeface="+mn-lt"/>
              </a:rPr>
              <a:t> are ca </a:t>
            </a:r>
            <a:r>
              <a:rPr lang="en-US" sz="2400" err="1">
                <a:ea typeface="+mn-lt"/>
                <a:cs typeface="+mn-lt"/>
              </a:rPr>
              <a:t>premisă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fundamentală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validarea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prealabilă</a:t>
            </a:r>
            <a:r>
              <a:rPr lang="en-US" sz="2400">
                <a:ea typeface="+mn-lt"/>
                <a:cs typeface="+mn-lt"/>
              </a:rPr>
              <a:t> a </a:t>
            </a:r>
            <a:r>
              <a:rPr lang="en-US" sz="2400" err="1">
                <a:ea typeface="+mn-lt"/>
                <a:cs typeface="+mn-lt"/>
              </a:rPr>
              <a:t>modelului</a:t>
            </a:r>
            <a:r>
              <a:rPr lang="en-US" sz="2400">
                <a:ea typeface="+mn-lt"/>
                <a:cs typeface="+mn-lt"/>
              </a:rPr>
              <a:t> geometric: </a:t>
            </a:r>
            <a:r>
              <a:rPr lang="en-US" sz="2400" err="1">
                <a:ea typeface="+mn-lt"/>
                <a:cs typeface="+mn-lt"/>
              </a:rPr>
              <a:t>robotul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este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asamblat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iar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sistemele</a:t>
            </a:r>
            <a:r>
              <a:rPr lang="en-US" sz="2400">
                <a:ea typeface="+mn-lt"/>
                <a:cs typeface="+mn-lt"/>
              </a:rPr>
              <a:t> de </a:t>
            </a:r>
            <a:r>
              <a:rPr lang="en-US" sz="2400" err="1">
                <a:ea typeface="+mn-lt"/>
                <a:cs typeface="+mn-lt"/>
              </a:rPr>
              <a:t>referință</a:t>
            </a:r>
            <a:r>
              <a:rPr lang="en-US" sz="2400">
                <a:ea typeface="+mn-lt"/>
                <a:cs typeface="+mn-lt"/>
              </a:rPr>
              <a:t> ale </a:t>
            </a:r>
            <a:r>
              <a:rPr lang="en-US" sz="2400" err="1">
                <a:ea typeface="+mn-lt"/>
                <a:cs typeface="+mn-lt"/>
              </a:rPr>
              <a:t>axelor</a:t>
            </a:r>
            <a:r>
              <a:rPr lang="en-US" sz="2400">
                <a:ea typeface="+mn-lt"/>
                <a:cs typeface="+mn-lt"/>
              </a:rPr>
              <a:t> sunt definite. </a:t>
            </a:r>
            <a:r>
              <a:rPr lang="en-US" sz="2400" err="1">
                <a:ea typeface="+mn-lt"/>
                <a:cs typeface="+mn-lt"/>
              </a:rPr>
              <a:t>În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cadrul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acestui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scenariu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variabilele</a:t>
            </a:r>
            <a:r>
              <a:rPr lang="en-US" sz="2400">
                <a:ea typeface="+mn-lt"/>
                <a:cs typeface="+mn-lt"/>
              </a:rPr>
              <a:t> de </a:t>
            </a:r>
            <a:r>
              <a:rPr lang="en-US" sz="2400" err="1">
                <a:ea typeface="+mn-lt"/>
                <a:cs typeface="+mn-lt"/>
              </a:rPr>
              <a:t>intrare</a:t>
            </a:r>
            <a:r>
              <a:rPr lang="en-US" sz="2400">
                <a:ea typeface="+mn-lt"/>
                <a:cs typeface="+mn-lt"/>
              </a:rPr>
              <a:t> sunt </a:t>
            </a:r>
            <a:r>
              <a:rPr lang="en-US" sz="2400" err="1">
                <a:ea typeface="+mn-lt"/>
                <a:cs typeface="+mn-lt"/>
              </a:rPr>
              <a:t>parametrii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cinematici</a:t>
            </a:r>
            <a:r>
              <a:rPr lang="en-US" sz="2400">
                <a:ea typeface="+mn-lt"/>
                <a:cs typeface="+mn-lt"/>
              </a:rPr>
              <a:t> — </a:t>
            </a:r>
            <a:r>
              <a:rPr lang="en-US" sz="2400" b="1" err="1">
                <a:ea typeface="+mn-lt"/>
                <a:cs typeface="+mn-lt"/>
              </a:rPr>
              <a:t>poziția</a:t>
            </a:r>
            <a:r>
              <a:rPr lang="en-US" sz="2400" b="1">
                <a:ea typeface="+mn-lt"/>
                <a:cs typeface="+mn-lt"/>
              </a:rPr>
              <a:t>, </a:t>
            </a:r>
            <a:r>
              <a:rPr lang="en-US" sz="2400" b="1" err="1">
                <a:ea typeface="+mn-lt"/>
                <a:cs typeface="+mn-lt"/>
              </a:rPr>
              <a:t>viteza</a:t>
            </a:r>
            <a:r>
              <a:rPr lang="en-US" sz="2400" b="1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și</a:t>
            </a:r>
            <a:r>
              <a:rPr lang="en-US" sz="2400" b="1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accelerația</a:t>
            </a:r>
            <a:r>
              <a:rPr lang="en-US" sz="2400">
                <a:ea typeface="+mn-lt"/>
                <a:cs typeface="+mn-lt"/>
              </a:rPr>
              <a:t> — care sunt </a:t>
            </a:r>
            <a:r>
              <a:rPr lang="en-US" sz="2400" err="1">
                <a:ea typeface="+mn-lt"/>
                <a:cs typeface="+mn-lt"/>
              </a:rPr>
              <a:t>impuse</a:t>
            </a:r>
            <a:r>
              <a:rPr lang="en-US" sz="2400">
                <a:ea typeface="+mn-lt"/>
                <a:cs typeface="+mn-lt"/>
              </a:rPr>
              <a:t> direct la </a:t>
            </a:r>
            <a:r>
              <a:rPr lang="en-US" sz="2400" err="1">
                <a:ea typeface="+mn-lt"/>
                <a:cs typeface="+mn-lt"/>
              </a:rPr>
              <a:t>nivelul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cuplelor</a:t>
            </a:r>
            <a:r>
              <a:rPr lang="en-US" sz="2400">
                <a:ea typeface="+mn-lt"/>
                <a:cs typeface="+mn-lt"/>
              </a:rPr>
              <a:t>. </a:t>
            </a:r>
            <a:r>
              <a:rPr lang="en-US" sz="2400" err="1">
                <a:ea typeface="+mn-lt"/>
                <a:cs typeface="+mn-lt"/>
              </a:rPr>
              <a:t>Simularea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generează</a:t>
            </a:r>
            <a:r>
              <a:rPr lang="en-US" sz="2400">
                <a:ea typeface="+mn-lt"/>
                <a:cs typeface="+mn-lt"/>
              </a:rPr>
              <a:t> ca </a:t>
            </a:r>
            <a:r>
              <a:rPr lang="en-US" sz="2400" err="1">
                <a:ea typeface="+mn-lt"/>
                <a:cs typeface="+mn-lt"/>
              </a:rPr>
              <a:t>mărime</a:t>
            </a:r>
            <a:r>
              <a:rPr lang="en-US" sz="2400">
                <a:ea typeface="+mn-lt"/>
                <a:cs typeface="+mn-lt"/>
              </a:rPr>
              <a:t> de </a:t>
            </a:r>
            <a:r>
              <a:rPr lang="en-US" sz="2400" err="1">
                <a:ea typeface="+mn-lt"/>
                <a:cs typeface="+mn-lt"/>
              </a:rPr>
              <a:t>ieșire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momentul</a:t>
            </a:r>
            <a:r>
              <a:rPr lang="en-US" sz="2400" b="1">
                <a:ea typeface="+mn-lt"/>
                <a:cs typeface="+mn-lt"/>
              </a:rPr>
              <a:t> (</a:t>
            </a:r>
            <a:r>
              <a:rPr lang="en-US" sz="2400" b="1" err="1">
                <a:ea typeface="+mn-lt"/>
                <a:cs typeface="+mn-lt"/>
              </a:rPr>
              <a:t>cuplul</a:t>
            </a:r>
            <a:r>
              <a:rPr lang="en-US" sz="2400" b="1">
                <a:ea typeface="+mn-lt"/>
                <a:cs typeface="+mn-lt"/>
              </a:rPr>
              <a:t>) </a:t>
            </a:r>
            <a:r>
              <a:rPr lang="en-US" sz="2400" b="1" err="1">
                <a:ea typeface="+mn-lt"/>
                <a:cs typeface="+mn-lt"/>
              </a:rPr>
              <a:t>necesar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în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fiecare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articulație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pentru</a:t>
            </a:r>
            <a:r>
              <a:rPr lang="en-US" sz="2400">
                <a:ea typeface="+mn-lt"/>
                <a:cs typeface="+mn-lt"/>
              </a:rPr>
              <a:t> a </a:t>
            </a:r>
            <a:r>
              <a:rPr lang="en-US" sz="2400" err="1">
                <a:ea typeface="+mn-lt"/>
                <a:cs typeface="+mn-lt"/>
              </a:rPr>
              <a:t>putea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executa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mișcarea</a:t>
            </a:r>
            <a:r>
              <a:rPr lang="en-US" sz="2400">
                <a:ea typeface="+mn-lt"/>
                <a:cs typeface="+mn-lt"/>
              </a:rPr>
              <a:t> prescrisă.</a:t>
            </a:r>
            <a:endParaRPr lang="en-US" sz="2400" err="1"/>
          </a:p>
        </p:txBody>
      </p:sp>
    </p:spTree>
    <p:extLst>
      <p:ext uri="{BB962C8B-B14F-4D97-AF65-F5344CB8AC3E}">
        <p14:creationId xmlns:p14="http://schemas.microsoft.com/office/powerpoint/2010/main" val="4285845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4E2ED6F9-63C3-4A8D-9BB4-1EA62533B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6D72081E-AD41-4FBB-B02B-698A68DB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34B6B-75F7-BF37-FF45-639F875E9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495466"/>
            <a:ext cx="3611880" cy="1536192"/>
          </a:xfrm>
        </p:spPr>
        <p:txBody>
          <a:bodyPr>
            <a:normAutofit/>
          </a:bodyPr>
          <a:lstStyle/>
          <a:p>
            <a:r>
              <a:rPr lang="en-US" sz="3200"/>
              <a:t>Metode</a:t>
            </a:r>
          </a:p>
        </p:txBody>
      </p:sp>
      <p:pic>
        <p:nvPicPr>
          <p:cNvPr id="4" name="Content Placeholder 3" descr="A diagram of a machine&#10;&#10;AI-generated content may be incorrect.">
            <a:extLst>
              <a:ext uri="{FF2B5EF4-FFF2-40B4-BE49-F238E27FC236}">
                <a16:creationId xmlns:a16="http://schemas.microsoft.com/office/drawing/2014/main" id="{760BAEB6-93EB-8D74-DA43-05A65A0B04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66"/>
          <a:stretch>
            <a:fillRect/>
          </a:stretch>
        </p:blipFill>
        <p:spPr>
          <a:xfrm>
            <a:off x="20" y="10"/>
            <a:ext cx="12191980" cy="3994473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716248AD-805F-41BF-9B57-FC53E5B3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F82758F-B2B3-4F0A-BB90-4BFFEDD16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Content Placeholder 7">
            <a:extLst>
              <a:ext uri="{FF2B5EF4-FFF2-40B4-BE49-F238E27FC236}">
                <a16:creationId xmlns:a16="http://schemas.microsoft.com/office/drawing/2014/main" id="{6C847DBD-5BEA-0D3B-9DCE-ED4A989E4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826" y="4495466"/>
            <a:ext cx="6061022" cy="1536192"/>
          </a:xfrm>
        </p:spPr>
        <p:txBody>
          <a:bodyPr anchor="ctr">
            <a:normAutofit/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59505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0EA091-6B12-2CC8-AF49-CDE285D75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Metode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E3430-F912-DDDE-4453-EBB3DE33F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 dirty="0">
                <a:ea typeface="+mn-lt"/>
                <a:cs typeface="+mn-lt"/>
              </a:rPr>
              <a:t>Cea de-a </a:t>
            </a:r>
            <a:r>
              <a:rPr lang="en-US" sz="2200">
                <a:ea typeface="+mn-lt"/>
                <a:cs typeface="+mn-lt"/>
              </a:rPr>
              <a:t>2-a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metodă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funcționează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într</a:t>
            </a:r>
            <a:r>
              <a:rPr lang="en-US" sz="2200" dirty="0">
                <a:ea typeface="+mn-lt"/>
                <a:cs typeface="+mn-lt"/>
              </a:rPr>
              <a:t>-o </a:t>
            </a:r>
            <a:r>
              <a:rPr lang="en-US" sz="2200" dirty="0" err="1">
                <a:ea typeface="+mn-lt"/>
                <a:cs typeface="+mn-lt"/>
              </a:rPr>
              <a:t>logică</a:t>
            </a:r>
            <a:r>
              <a:rPr lang="en-US" sz="2200" dirty="0">
                <a:ea typeface="+mn-lt"/>
                <a:cs typeface="+mn-lt"/>
              </a:rPr>
              <a:t> perfect </a:t>
            </a:r>
            <a:r>
              <a:rPr lang="en-US" sz="2200" dirty="0" err="1">
                <a:ea typeface="+mn-lt"/>
                <a:cs typeface="+mn-lt"/>
              </a:rPr>
              <a:t>inversă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față</a:t>
            </a:r>
            <a:r>
              <a:rPr lang="en-US" sz="2200" dirty="0">
                <a:ea typeface="+mn-lt"/>
                <a:cs typeface="+mn-lt"/>
              </a:rPr>
              <a:t> de prima, </a:t>
            </a:r>
            <a:r>
              <a:rPr lang="en-US" sz="2200" dirty="0" err="1">
                <a:ea typeface="+mn-lt"/>
                <a:cs typeface="+mn-lt"/>
              </a:rPr>
              <a:t>răsturnând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practic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fluxul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datelor</a:t>
            </a:r>
            <a:r>
              <a:rPr lang="en-US" sz="2200" dirty="0">
                <a:ea typeface="+mn-lt"/>
                <a:cs typeface="+mn-lt"/>
              </a:rPr>
              <a:t>: </a:t>
            </a:r>
            <a:r>
              <a:rPr lang="en-US" sz="2200" dirty="0" err="1">
                <a:ea typeface="+mn-lt"/>
                <a:cs typeface="+mn-lt"/>
              </a:rPr>
              <a:t>ceea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ce</a:t>
            </a:r>
            <a:r>
              <a:rPr lang="en-US" sz="2200" dirty="0">
                <a:ea typeface="+mn-lt"/>
                <a:cs typeface="+mn-lt"/>
              </a:rPr>
              <a:t> a </a:t>
            </a:r>
            <a:r>
              <a:rPr lang="en-US" sz="2200" dirty="0" err="1">
                <a:ea typeface="+mn-lt"/>
                <a:cs typeface="+mn-lt"/>
              </a:rPr>
              <a:t>reprezentat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rezultatul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în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primul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caz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devine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acum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dată</a:t>
            </a:r>
            <a:r>
              <a:rPr lang="en-US" sz="2200" dirty="0">
                <a:ea typeface="+mn-lt"/>
                <a:cs typeface="+mn-lt"/>
              </a:rPr>
              <a:t> de </a:t>
            </a:r>
            <a:r>
              <a:rPr lang="en-US" sz="2200" dirty="0" err="1">
                <a:ea typeface="+mn-lt"/>
                <a:cs typeface="+mn-lt"/>
              </a:rPr>
              <a:t>intrare</a:t>
            </a:r>
            <a:r>
              <a:rPr lang="en-US" sz="2200" dirty="0">
                <a:ea typeface="+mn-lt"/>
                <a:cs typeface="+mn-lt"/>
              </a:rPr>
              <a:t>. </a:t>
            </a:r>
            <a:r>
              <a:rPr lang="en-US" sz="2200" dirty="0" err="1">
                <a:ea typeface="+mn-lt"/>
                <a:cs typeface="+mn-lt"/>
              </a:rPr>
              <a:t>Astfel</a:t>
            </a:r>
            <a:r>
              <a:rPr lang="en-US" sz="2200" dirty="0">
                <a:ea typeface="+mn-lt"/>
                <a:cs typeface="+mn-lt"/>
              </a:rPr>
              <a:t>, </a:t>
            </a:r>
            <a:r>
              <a:rPr lang="en-US" sz="2200" dirty="0" err="1">
                <a:ea typeface="+mn-lt"/>
                <a:cs typeface="+mn-lt"/>
              </a:rPr>
              <a:t>în</a:t>
            </a:r>
            <a:r>
              <a:rPr lang="en-US" sz="2200" dirty="0">
                <a:ea typeface="+mn-lt"/>
                <a:cs typeface="+mn-lt"/>
              </a:rPr>
              <a:t> loc </a:t>
            </a:r>
            <a:r>
              <a:rPr lang="en-US" sz="2200" dirty="0" err="1">
                <a:ea typeface="+mn-lt"/>
                <a:cs typeface="+mn-lt"/>
              </a:rPr>
              <a:t>să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impunem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mișcarea</a:t>
            </a:r>
            <a:r>
              <a:rPr lang="en-US" sz="2200" dirty="0">
                <a:ea typeface="+mn-lt"/>
                <a:cs typeface="+mn-lt"/>
              </a:rPr>
              <a:t>, </a:t>
            </a:r>
            <a:r>
              <a:rPr lang="en-US" sz="2200" dirty="0" err="1">
                <a:ea typeface="+mn-lt"/>
                <a:cs typeface="+mn-lt"/>
              </a:rPr>
              <a:t>introducem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în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sistem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b="1" dirty="0" err="1">
                <a:ea typeface="+mn-lt"/>
                <a:cs typeface="+mn-lt"/>
              </a:rPr>
              <a:t>momentele</a:t>
            </a:r>
            <a:r>
              <a:rPr lang="en-US" sz="2200" dirty="0">
                <a:ea typeface="+mn-lt"/>
                <a:cs typeface="+mn-lt"/>
              </a:rPr>
              <a:t> din </a:t>
            </a:r>
            <a:r>
              <a:rPr lang="en-US" sz="2200" dirty="0" err="1">
                <a:ea typeface="+mn-lt"/>
                <a:cs typeface="+mn-lt"/>
              </a:rPr>
              <a:t>cuple</a:t>
            </a:r>
            <a:r>
              <a:rPr lang="en-US" sz="2200" dirty="0">
                <a:ea typeface="+mn-lt"/>
                <a:cs typeface="+mn-lt"/>
              </a:rPr>
              <a:t>, </a:t>
            </a:r>
            <a:r>
              <a:rPr lang="en-US" sz="2200" dirty="0" err="1">
                <a:ea typeface="+mn-lt"/>
                <a:cs typeface="+mn-lt"/>
              </a:rPr>
              <a:t>iar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simularea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calculează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răspunsul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fizic</a:t>
            </a:r>
            <a:r>
              <a:rPr lang="en-US" sz="2200" dirty="0">
                <a:ea typeface="+mn-lt"/>
                <a:cs typeface="+mn-lt"/>
              </a:rPr>
              <a:t> al </a:t>
            </a:r>
            <a:r>
              <a:rPr lang="en-US" sz="2200" dirty="0" err="1">
                <a:ea typeface="+mn-lt"/>
                <a:cs typeface="+mn-lt"/>
              </a:rPr>
              <a:t>robotului</a:t>
            </a:r>
            <a:r>
              <a:rPr lang="en-US" sz="2200" dirty="0">
                <a:ea typeface="+mn-lt"/>
                <a:cs typeface="+mn-lt"/>
              </a:rPr>
              <a:t> la </a:t>
            </a:r>
            <a:r>
              <a:rPr lang="en-US" sz="2200" dirty="0" err="1">
                <a:ea typeface="+mn-lt"/>
                <a:cs typeface="+mn-lt"/>
              </a:rPr>
              <a:t>aceste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forțe</a:t>
            </a:r>
            <a:r>
              <a:rPr lang="en-US" sz="2200" dirty="0">
                <a:ea typeface="+mn-lt"/>
                <a:cs typeface="+mn-lt"/>
              </a:rPr>
              <a:t>. </a:t>
            </a:r>
            <a:r>
              <a:rPr lang="en-US" sz="2200" dirty="0" err="1">
                <a:ea typeface="+mn-lt"/>
                <a:cs typeface="+mn-lt"/>
              </a:rPr>
              <a:t>În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consecință</a:t>
            </a:r>
            <a:r>
              <a:rPr lang="en-US" sz="2200" dirty="0">
                <a:ea typeface="+mn-lt"/>
                <a:cs typeface="+mn-lt"/>
              </a:rPr>
              <a:t>, </a:t>
            </a:r>
            <a:r>
              <a:rPr lang="en-US" sz="2200" dirty="0" err="1">
                <a:ea typeface="+mn-lt"/>
                <a:cs typeface="+mn-lt"/>
              </a:rPr>
              <a:t>variabila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rezultată</a:t>
            </a:r>
            <a:r>
              <a:rPr lang="en-US" sz="2200" dirty="0">
                <a:ea typeface="+mn-lt"/>
                <a:cs typeface="+mn-lt"/>
              </a:rPr>
              <a:t>(de </a:t>
            </a:r>
            <a:r>
              <a:rPr lang="en-US" sz="2200" dirty="0" err="1">
                <a:ea typeface="+mn-lt"/>
                <a:cs typeface="+mn-lt"/>
              </a:rPr>
              <a:t>ieșire</a:t>
            </a:r>
            <a:r>
              <a:rPr lang="en-US" sz="2200" dirty="0">
                <a:ea typeface="+mn-lt"/>
                <a:cs typeface="+mn-lt"/>
              </a:rPr>
              <a:t>) </a:t>
            </a:r>
            <a:r>
              <a:rPr lang="en-US" sz="2200" dirty="0" err="1">
                <a:ea typeface="+mn-lt"/>
                <a:cs typeface="+mn-lt"/>
              </a:rPr>
              <a:t>este</a:t>
            </a:r>
            <a:r>
              <a:rPr lang="en-US" sz="2200" dirty="0">
                <a:ea typeface="+mn-lt"/>
                <a:cs typeface="+mn-lt"/>
              </a:rPr>
              <a:t> exact </a:t>
            </a:r>
            <a:r>
              <a:rPr lang="en-US" sz="2200" dirty="0" err="1">
                <a:ea typeface="+mn-lt"/>
                <a:cs typeface="+mn-lt"/>
              </a:rPr>
              <a:t>parametrul</a:t>
            </a:r>
            <a:r>
              <a:rPr lang="en-US" sz="2200" dirty="0">
                <a:ea typeface="+mn-lt"/>
                <a:cs typeface="+mn-lt"/>
              </a:rPr>
              <a:t> cinematic cu care am </a:t>
            </a:r>
            <a:r>
              <a:rPr lang="en-US" sz="2200" dirty="0" err="1">
                <a:ea typeface="+mn-lt"/>
                <a:cs typeface="+mn-lt"/>
              </a:rPr>
              <a:t>pornit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inițial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în</a:t>
            </a:r>
            <a:r>
              <a:rPr lang="en-US" sz="2200" dirty="0">
                <a:ea typeface="+mn-lt"/>
                <a:cs typeface="+mn-lt"/>
              </a:rPr>
              <a:t> prima </a:t>
            </a:r>
            <a:r>
              <a:rPr lang="en-US" sz="2200" dirty="0" err="1">
                <a:ea typeface="+mn-lt"/>
                <a:cs typeface="+mn-lt"/>
              </a:rPr>
              <a:t>metodă</a:t>
            </a:r>
            <a:r>
              <a:rPr lang="en-US" sz="2200" dirty="0">
                <a:ea typeface="+mn-lt"/>
                <a:cs typeface="+mn-lt"/>
              </a:rPr>
              <a:t>: </a:t>
            </a:r>
            <a:r>
              <a:rPr lang="en-US" sz="2200" b="1" dirty="0" err="1">
                <a:ea typeface="+mn-lt"/>
                <a:cs typeface="+mn-lt"/>
              </a:rPr>
              <a:t>poziția</a:t>
            </a:r>
            <a:r>
              <a:rPr lang="en-US" sz="2200" dirty="0">
                <a:ea typeface="+mn-lt"/>
                <a:cs typeface="+mn-lt"/>
              </a:rPr>
              <a:t>.</a:t>
            </a:r>
          </a:p>
          <a:p>
            <a:r>
              <a:rPr lang="en-US" sz="2200" dirty="0" err="1">
                <a:ea typeface="+mn-lt"/>
                <a:cs typeface="+mn-lt"/>
              </a:rPr>
              <a:t>Cuplele</a:t>
            </a:r>
            <a:r>
              <a:rPr lang="en-US" sz="2200" dirty="0">
                <a:ea typeface="+mn-lt"/>
                <a:cs typeface="+mn-lt"/>
              </a:rPr>
              <a:t> au </a:t>
            </a:r>
            <a:r>
              <a:rPr lang="en-US" sz="2200" dirty="0" err="1">
                <a:ea typeface="+mn-lt"/>
                <a:cs typeface="+mn-lt"/>
              </a:rPr>
              <a:t>trebuit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inversate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și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ele</a:t>
            </a:r>
            <a:r>
              <a:rPr lang="en-US" sz="2200" dirty="0">
                <a:ea typeface="+mn-lt"/>
                <a:cs typeface="+mn-lt"/>
              </a:rPr>
              <a:t> la Actuation </a:t>
            </a:r>
            <a:r>
              <a:rPr lang="en-US" sz="2200" dirty="0" err="1">
                <a:ea typeface="+mn-lt"/>
                <a:cs typeface="+mn-lt"/>
              </a:rPr>
              <a:t>și</a:t>
            </a:r>
            <a:r>
              <a:rPr lang="en-US" sz="2200" dirty="0">
                <a:ea typeface="+mn-lt"/>
                <a:cs typeface="+mn-lt"/>
              </a:rPr>
              <a:t> Sensing.</a:t>
            </a:r>
          </a:p>
          <a:p>
            <a:r>
              <a:rPr lang="en-US" sz="2200" dirty="0" err="1">
                <a:ea typeface="+mn-lt"/>
                <a:cs typeface="+mn-lt"/>
              </a:rPr>
              <a:t>Totuși</a:t>
            </a:r>
            <a:r>
              <a:rPr lang="en-US" sz="2200" dirty="0">
                <a:ea typeface="+mn-lt"/>
                <a:cs typeface="+mn-lt"/>
              </a:rPr>
              <a:t>, </a:t>
            </a:r>
            <a:r>
              <a:rPr lang="en-US" sz="2200" dirty="0" err="1">
                <a:ea typeface="+mn-lt"/>
                <a:cs typeface="+mn-lt"/>
              </a:rPr>
              <a:t>trebuie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menționat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că</a:t>
            </a:r>
            <a:r>
              <a:rPr lang="en-US" sz="2200" dirty="0">
                <a:ea typeface="+mn-lt"/>
                <a:cs typeface="+mn-lt"/>
              </a:rPr>
              <a:t>, </a:t>
            </a:r>
            <a:r>
              <a:rPr lang="en-US" sz="2200" dirty="0" err="1">
                <a:ea typeface="+mn-lt"/>
                <a:cs typeface="+mn-lt"/>
              </a:rPr>
              <a:t>dintr</a:t>
            </a:r>
            <a:r>
              <a:rPr lang="en-US" sz="2200" dirty="0">
                <a:ea typeface="+mn-lt"/>
                <a:cs typeface="+mn-lt"/>
              </a:rPr>
              <a:t>-un </a:t>
            </a:r>
            <a:r>
              <a:rPr lang="en-US" sz="2200" dirty="0" err="1">
                <a:ea typeface="+mn-lt"/>
                <a:cs typeface="+mn-lt"/>
              </a:rPr>
              <a:t>motiv</a:t>
            </a:r>
            <a:r>
              <a:rPr lang="en-US" sz="2200" dirty="0">
                <a:ea typeface="+mn-lt"/>
                <a:cs typeface="+mn-lt"/>
              </a:rPr>
              <a:t> pe care </a:t>
            </a:r>
            <a:r>
              <a:rPr lang="en-US" sz="2200" dirty="0" err="1">
                <a:ea typeface="+mn-lt"/>
                <a:cs typeface="+mn-lt"/>
              </a:rPr>
              <a:t>încă</a:t>
            </a:r>
            <a:r>
              <a:rPr lang="en-US" sz="2200" dirty="0">
                <a:ea typeface="+mn-lt"/>
                <a:cs typeface="+mn-lt"/>
              </a:rPr>
              <a:t> nu l-am </a:t>
            </a:r>
            <a:r>
              <a:rPr lang="en-US" sz="2200" dirty="0" err="1">
                <a:ea typeface="+mn-lt"/>
                <a:cs typeface="+mn-lt"/>
              </a:rPr>
              <a:t>descoperit</a:t>
            </a:r>
            <a:r>
              <a:rPr lang="en-US" sz="2200" dirty="0">
                <a:ea typeface="+mn-lt"/>
                <a:cs typeface="+mn-lt"/>
              </a:rPr>
              <a:t>, </a:t>
            </a:r>
            <a:r>
              <a:rPr lang="en-US" sz="2200" dirty="0" err="1">
                <a:ea typeface="+mn-lt"/>
                <a:cs typeface="+mn-lt"/>
              </a:rPr>
              <a:t>simularea</a:t>
            </a:r>
            <a:r>
              <a:rPr lang="en-US" sz="2200" dirty="0">
                <a:ea typeface="+mn-lt"/>
                <a:cs typeface="+mn-lt"/>
              </a:rPr>
              <a:t> nu se </a:t>
            </a:r>
            <a:r>
              <a:rPr lang="en-US" sz="2200" dirty="0" err="1">
                <a:ea typeface="+mn-lt"/>
                <a:cs typeface="+mn-lt"/>
              </a:rPr>
              <a:t>comportă</a:t>
            </a:r>
            <a:r>
              <a:rPr lang="en-US" sz="2200" dirty="0">
                <a:ea typeface="+mn-lt"/>
                <a:cs typeface="+mn-lt"/>
              </a:rPr>
              <a:t> cum </a:t>
            </a:r>
            <a:r>
              <a:rPr lang="en-US" sz="2200" dirty="0" err="1">
                <a:ea typeface="+mn-lt"/>
                <a:cs typeface="+mn-lt"/>
              </a:rPr>
              <a:t>ar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trebui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în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acest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stadiu</a:t>
            </a:r>
            <a:r>
              <a:rPr lang="en-US" sz="2200" dirty="0">
                <a:ea typeface="+mn-lt"/>
                <a:cs typeface="+mn-lt"/>
              </a:rPr>
              <a:t>, ci </a:t>
            </a:r>
            <a:r>
              <a:rPr lang="en-US" sz="2200" dirty="0" err="1">
                <a:ea typeface="+mn-lt"/>
                <a:cs typeface="+mn-lt"/>
              </a:rPr>
              <a:t>manifestă</a:t>
            </a:r>
            <a:r>
              <a:rPr lang="en-US" sz="2200" dirty="0">
                <a:ea typeface="+mn-lt"/>
                <a:cs typeface="+mn-lt"/>
              </a:rPr>
              <a:t> un „</a:t>
            </a:r>
            <a:r>
              <a:rPr lang="en-US" sz="2200" dirty="0" err="1">
                <a:ea typeface="+mn-lt"/>
                <a:cs typeface="+mn-lt"/>
              </a:rPr>
              <a:t>efect</a:t>
            </a:r>
            <a:r>
              <a:rPr lang="en-US" sz="2200" dirty="0">
                <a:ea typeface="+mn-lt"/>
                <a:cs typeface="+mn-lt"/>
              </a:rPr>
              <a:t> de </a:t>
            </a:r>
            <a:r>
              <a:rPr lang="en-US" sz="2200" dirty="0" err="1">
                <a:ea typeface="+mn-lt"/>
                <a:cs typeface="+mn-lt"/>
              </a:rPr>
              <a:t>elicopter</a:t>
            </a:r>
            <a:r>
              <a:rPr lang="en-US" sz="2200" dirty="0">
                <a:ea typeface="+mn-lt"/>
                <a:cs typeface="+mn-lt"/>
              </a:rPr>
              <a:t>” </a:t>
            </a:r>
            <a:r>
              <a:rPr lang="en-US" sz="2200" dirty="0" err="1">
                <a:ea typeface="+mn-lt"/>
                <a:cs typeface="+mn-lt"/>
              </a:rPr>
              <a:t>instabil</a:t>
            </a:r>
            <a:r>
              <a:rPr lang="en-US" sz="2200" dirty="0">
                <a:ea typeface="+mn-lt"/>
                <a:cs typeface="+mn-lt"/>
              </a:rPr>
              <a:t>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893246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AE6DB-FF0A-CE91-D22D-5D1E9C405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914855"/>
            <a:ext cx="9144000" cy="7867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/>
              <a:t>Metode</a:t>
            </a:r>
          </a:p>
        </p:txBody>
      </p:sp>
      <p:pic>
        <p:nvPicPr>
          <p:cNvPr id="4" name="Content Placeholder 3" descr="A diagram of a computer&#10;&#10;AI-generated content may be incorrect.">
            <a:extLst>
              <a:ext uri="{FF2B5EF4-FFF2-40B4-BE49-F238E27FC236}">
                <a16:creationId xmlns:a16="http://schemas.microsoft.com/office/drawing/2014/main" id="{BE38A8D5-2587-AA05-EF54-0C4E56E366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13"/>
          <a:stretch>
            <a:fillRect/>
          </a:stretch>
        </p:blipFill>
        <p:spPr>
          <a:xfrm>
            <a:off x="20" y="10"/>
            <a:ext cx="12191980" cy="4605671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FB7FB62D-DD5B-C587-F53F-679128D41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439" y="4525778"/>
            <a:ext cx="12207200" cy="123363"/>
            <a:chOff x="-5025" y="6737718"/>
            <a:chExt cx="12207200" cy="123363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474BA53-241B-ACB6-E742-B074F40EB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797B091-2608-7480-FE24-507CC5333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2544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195A4-F08E-D768-8EE7-08DCCC838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Metode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2BAF1C-F758-9DBA-FEBC-B302536E2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sz="2400" err="1">
                <a:ea typeface="+mn-lt"/>
                <a:cs typeface="+mn-lt"/>
              </a:rPr>
              <a:t>Această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metodă</a:t>
            </a:r>
            <a:r>
              <a:rPr lang="en-US" sz="2400">
                <a:ea typeface="+mn-lt"/>
                <a:cs typeface="+mn-lt"/>
              </a:rPr>
              <a:t> se </a:t>
            </a:r>
            <a:r>
              <a:rPr lang="en-US" sz="2400" err="1">
                <a:ea typeface="+mn-lt"/>
                <a:cs typeface="+mn-lt"/>
              </a:rPr>
              <a:t>numește</a:t>
            </a:r>
            <a:r>
              <a:rPr lang="en-US" sz="2400">
                <a:ea typeface="+mn-lt"/>
                <a:cs typeface="+mn-lt"/>
              </a:rPr>
              <a:t> "</a:t>
            </a:r>
            <a:r>
              <a:rPr lang="en-US" sz="2400" err="1">
                <a:ea typeface="+mn-lt"/>
                <a:cs typeface="+mn-lt"/>
              </a:rPr>
              <a:t>Controlul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clasic</a:t>
            </a:r>
            <a:r>
              <a:rPr lang="en-US" sz="2400">
                <a:ea typeface="+mn-lt"/>
                <a:cs typeface="+mn-lt"/>
              </a:rPr>
              <a:t>" </a:t>
            </a:r>
            <a:r>
              <a:rPr lang="en-US" sz="2400" err="1">
                <a:ea typeface="+mn-lt"/>
                <a:cs typeface="+mn-lt"/>
              </a:rPr>
              <a:t>și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reprezintă</a:t>
            </a:r>
            <a:r>
              <a:rPr lang="en-US" sz="2400">
                <a:ea typeface="+mn-lt"/>
                <a:cs typeface="+mn-lt"/>
              </a:rPr>
              <a:t> o </a:t>
            </a:r>
            <a:r>
              <a:rPr lang="en-US" sz="2400" err="1">
                <a:ea typeface="+mn-lt"/>
                <a:cs typeface="+mn-lt"/>
              </a:rPr>
              <a:t>evoluție</a:t>
            </a:r>
            <a:r>
              <a:rPr lang="en-US" sz="2400">
                <a:ea typeface="+mn-lt"/>
                <a:cs typeface="+mn-lt"/>
              </a:rPr>
              <a:t> a </a:t>
            </a:r>
            <a:r>
              <a:rPr lang="en-US" sz="2400" err="1">
                <a:ea typeface="+mn-lt"/>
                <a:cs typeface="+mn-lt"/>
              </a:rPr>
              <a:t>schemei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precedente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elementul</a:t>
            </a:r>
            <a:r>
              <a:rPr lang="en-US" sz="2400">
                <a:ea typeface="+mn-lt"/>
                <a:cs typeface="+mn-lt"/>
              </a:rPr>
              <a:t> central de </a:t>
            </a:r>
            <a:r>
              <a:rPr lang="en-US" sz="2400" err="1">
                <a:ea typeface="+mn-lt"/>
                <a:cs typeface="+mn-lt"/>
              </a:rPr>
              <a:t>noutate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fiind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introducerea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în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bucla</a:t>
            </a:r>
            <a:r>
              <a:rPr lang="en-US" sz="2400">
                <a:ea typeface="+mn-lt"/>
                <a:cs typeface="+mn-lt"/>
              </a:rPr>
              <a:t> de </a:t>
            </a:r>
            <a:r>
              <a:rPr lang="en-US" sz="2400" err="1">
                <a:ea typeface="+mn-lt"/>
                <a:cs typeface="+mn-lt"/>
              </a:rPr>
              <a:t>reglare</a:t>
            </a:r>
            <a:r>
              <a:rPr lang="en-US" sz="2400">
                <a:ea typeface="+mn-lt"/>
                <a:cs typeface="+mn-lt"/>
              </a:rPr>
              <a:t> a </a:t>
            </a:r>
            <a:r>
              <a:rPr lang="en-US" sz="2400" err="1">
                <a:ea typeface="+mn-lt"/>
                <a:cs typeface="+mn-lt"/>
              </a:rPr>
              <a:t>modelelor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b="1">
                <a:ea typeface="+mn-lt"/>
                <a:cs typeface="+mn-lt"/>
              </a:rPr>
              <a:t>moto-</a:t>
            </a:r>
            <a:r>
              <a:rPr lang="en-US" sz="2400" b="1" err="1">
                <a:ea typeface="+mn-lt"/>
                <a:cs typeface="+mn-lt"/>
              </a:rPr>
              <a:t>reductoarelor</a:t>
            </a:r>
            <a:r>
              <a:rPr lang="en-US" sz="2400" err="1">
                <a:ea typeface="+mn-lt"/>
                <a:cs typeface="+mn-lt"/>
              </a:rPr>
              <a:t>.O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particularitate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importantă</a:t>
            </a:r>
            <a:r>
              <a:rPr lang="en-US" sz="2400">
                <a:ea typeface="+mn-lt"/>
                <a:cs typeface="+mn-lt"/>
              </a:rPr>
              <a:t> a </a:t>
            </a:r>
            <a:r>
              <a:rPr lang="en-US" sz="2400" err="1">
                <a:ea typeface="+mn-lt"/>
                <a:cs typeface="+mn-lt"/>
              </a:rPr>
              <a:t>acestei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abordări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este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modul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în</a:t>
            </a:r>
            <a:r>
              <a:rPr lang="en-US" sz="2400">
                <a:ea typeface="+mn-lt"/>
                <a:cs typeface="+mn-lt"/>
              </a:rPr>
              <a:t> care sunt </a:t>
            </a:r>
            <a:r>
              <a:rPr lang="en-US" sz="2400" err="1">
                <a:ea typeface="+mn-lt"/>
                <a:cs typeface="+mn-lt"/>
              </a:rPr>
              <a:t>tratate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aceste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momente</a:t>
            </a:r>
            <a:r>
              <a:rPr lang="en-US" sz="2400">
                <a:ea typeface="+mn-lt"/>
                <a:cs typeface="+mn-lt"/>
              </a:rPr>
              <a:t>: </a:t>
            </a:r>
            <a:r>
              <a:rPr lang="en-US" sz="2400" err="1">
                <a:ea typeface="+mn-lt"/>
                <a:cs typeface="+mn-lt"/>
              </a:rPr>
              <a:t>ele</a:t>
            </a:r>
            <a:r>
              <a:rPr lang="en-US" sz="2400">
                <a:ea typeface="+mn-lt"/>
                <a:cs typeface="+mn-lt"/>
              </a:rPr>
              <a:t> nu sunt </a:t>
            </a:r>
            <a:r>
              <a:rPr lang="en-US" sz="2400" err="1">
                <a:ea typeface="+mn-lt"/>
                <a:cs typeface="+mn-lt"/>
              </a:rPr>
              <a:t>doar</a:t>
            </a:r>
            <a:r>
              <a:rPr lang="en-US" sz="2400">
                <a:ea typeface="+mn-lt"/>
                <a:cs typeface="+mn-lt"/>
              </a:rPr>
              <a:t> calculate statistic, ci sunt </a:t>
            </a:r>
            <a:r>
              <a:rPr lang="en-US" sz="2400" err="1">
                <a:ea typeface="+mn-lt"/>
                <a:cs typeface="+mn-lt"/>
              </a:rPr>
              <a:t>introduse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în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subsistemele</a:t>
            </a:r>
            <a:r>
              <a:rPr lang="en-US" sz="2400">
                <a:ea typeface="+mn-lt"/>
                <a:cs typeface="+mn-lt"/>
              </a:rPr>
              <a:t> moto-</a:t>
            </a:r>
            <a:r>
              <a:rPr lang="en-US" sz="2400" err="1">
                <a:ea typeface="+mn-lt"/>
                <a:cs typeface="+mn-lt"/>
              </a:rPr>
              <a:t>reductoarelor</a:t>
            </a:r>
            <a:r>
              <a:rPr lang="en-US" sz="2400">
                <a:ea typeface="+mn-lt"/>
                <a:cs typeface="+mn-lt"/>
              </a:rPr>
              <a:t> sub </a:t>
            </a:r>
            <a:r>
              <a:rPr lang="en-US" sz="2400" err="1">
                <a:ea typeface="+mn-lt"/>
                <a:cs typeface="+mn-lt"/>
              </a:rPr>
              <a:t>formă</a:t>
            </a:r>
            <a:r>
              <a:rPr lang="en-US" sz="2400">
                <a:ea typeface="+mn-lt"/>
                <a:cs typeface="+mn-lt"/>
              </a:rPr>
              <a:t> de </a:t>
            </a:r>
            <a:r>
              <a:rPr lang="en-US" sz="2400" b="1" err="1">
                <a:ea typeface="+mn-lt"/>
                <a:cs typeface="+mn-lt"/>
              </a:rPr>
              <a:t>perturbații</a:t>
            </a:r>
            <a:r>
              <a:rPr lang="en-US" sz="2400" b="1">
                <a:ea typeface="+mn-lt"/>
                <a:cs typeface="+mn-lt"/>
              </a:rPr>
              <a:t> (</a:t>
            </a:r>
            <a:r>
              <a:rPr lang="en-US" sz="2400" b="1" err="1">
                <a:ea typeface="+mn-lt"/>
                <a:cs typeface="+mn-lt"/>
              </a:rPr>
              <a:t>sarcini</a:t>
            </a:r>
            <a:r>
              <a:rPr lang="en-US" sz="2400" b="1">
                <a:ea typeface="+mn-lt"/>
                <a:cs typeface="+mn-lt"/>
              </a:rPr>
              <a:t>)</a:t>
            </a:r>
            <a:r>
              <a:rPr lang="en-US" sz="2400">
                <a:ea typeface="+mn-lt"/>
                <a:cs typeface="+mn-lt"/>
              </a:rPr>
              <a:t> externe. </a:t>
            </a:r>
            <a:r>
              <a:rPr lang="en-US" sz="2400" err="1">
                <a:ea typeface="+mn-lt"/>
                <a:cs typeface="+mn-lt"/>
              </a:rPr>
              <a:t>Astfel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sistemul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simulează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efortul</a:t>
            </a:r>
            <a:r>
              <a:rPr lang="en-US" sz="2400">
                <a:ea typeface="+mn-lt"/>
                <a:cs typeface="+mn-lt"/>
              </a:rPr>
              <a:t> real pe care </a:t>
            </a:r>
            <a:r>
              <a:rPr lang="en-US" sz="2400" err="1">
                <a:ea typeface="+mn-lt"/>
                <a:cs typeface="+mn-lt"/>
              </a:rPr>
              <a:t>motorul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trebuie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să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îl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depună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pentru</a:t>
            </a:r>
            <a:r>
              <a:rPr lang="en-US" sz="2400">
                <a:ea typeface="+mn-lt"/>
                <a:cs typeface="+mn-lt"/>
              </a:rPr>
              <a:t> a </a:t>
            </a:r>
            <a:r>
              <a:rPr lang="en-US" sz="2400" err="1">
                <a:ea typeface="+mn-lt"/>
                <a:cs typeface="+mn-lt"/>
              </a:rPr>
              <a:t>învinge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inerția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și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greutatea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brațului</a:t>
            </a:r>
            <a:r>
              <a:rPr lang="en-US" sz="2400">
                <a:ea typeface="+mn-lt"/>
                <a:cs typeface="+mn-lt"/>
              </a:rPr>
              <a:t> robotic.</a:t>
            </a:r>
          </a:p>
          <a:p>
            <a:r>
              <a:rPr lang="en-US" sz="2400">
                <a:ea typeface="+mn-lt"/>
                <a:cs typeface="+mn-lt"/>
              </a:rPr>
              <a:t>Din </a:t>
            </a:r>
            <a:r>
              <a:rPr lang="en-US" sz="2400" err="1">
                <a:ea typeface="+mn-lt"/>
                <a:cs typeface="+mn-lt"/>
              </a:rPr>
              <a:t>perspectiva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strategiei</a:t>
            </a:r>
            <a:r>
              <a:rPr lang="en-US" sz="2400">
                <a:ea typeface="+mn-lt"/>
                <a:cs typeface="+mn-lt"/>
              </a:rPr>
              <a:t> de control, s-a </a:t>
            </a:r>
            <a:r>
              <a:rPr lang="en-US" sz="2400" err="1">
                <a:ea typeface="+mn-lt"/>
                <a:cs typeface="+mn-lt"/>
              </a:rPr>
              <a:t>optat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pentru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menținerea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parametrilor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regulatorului</a:t>
            </a:r>
            <a:r>
              <a:rPr lang="en-US" sz="2400">
                <a:ea typeface="+mn-lt"/>
                <a:cs typeface="+mn-lt"/>
              </a:rPr>
              <a:t> PID la </a:t>
            </a:r>
            <a:r>
              <a:rPr lang="en-US" sz="2400" err="1">
                <a:ea typeface="+mn-lt"/>
                <a:cs typeface="+mn-lt"/>
              </a:rPr>
              <a:t>valorile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implicite</a:t>
            </a:r>
            <a:r>
              <a:rPr lang="en-US" sz="2400">
                <a:ea typeface="+mn-lt"/>
                <a:cs typeface="+mn-lt"/>
              </a:rPr>
              <a:t> (</a:t>
            </a:r>
            <a:r>
              <a:rPr lang="en-US" sz="2400" i="1">
                <a:ea typeface="+mn-lt"/>
                <a:cs typeface="+mn-lt"/>
              </a:rPr>
              <a:t>default</a:t>
            </a:r>
            <a:r>
              <a:rPr lang="en-US" sz="2400">
                <a:ea typeface="+mn-lt"/>
                <a:cs typeface="+mn-lt"/>
              </a:rPr>
              <a:t>).</a:t>
            </a:r>
            <a:endParaRPr lang="en-US" sz="2400"/>
          </a:p>
          <a:p>
            <a:r>
              <a:rPr lang="en-US" sz="2400" err="1"/>
              <a:t>În</a:t>
            </a:r>
            <a:r>
              <a:rPr lang="en-US" sz="2400"/>
              <a:t> block-ul mare </a:t>
            </a:r>
            <a:r>
              <a:rPr lang="en-US" sz="2400" err="1"/>
              <a:t>este</a:t>
            </a:r>
            <a:r>
              <a:rPr lang="en-US" sz="2400"/>
              <a:t> </a:t>
            </a:r>
            <a:r>
              <a:rPr lang="en-US" sz="2400" err="1"/>
              <a:t>construcția</a:t>
            </a:r>
            <a:r>
              <a:rPr lang="en-US" sz="2400"/>
              <a:t> </a:t>
            </a:r>
            <a:r>
              <a:rPr lang="en-US" sz="2400" err="1"/>
              <a:t>robotului</a:t>
            </a:r>
            <a:r>
              <a:rPr lang="en-US" sz="2400"/>
              <a:t>.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12850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474CD4-5A1F-F4BB-3B2C-68B77A067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Metode</a:t>
            </a:r>
          </a:p>
        </p:txBody>
      </p:sp>
      <p:pic>
        <p:nvPicPr>
          <p:cNvPr id="4" name="Content Placeholder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2C0DDF8E-C00E-A540-EEB7-B57090A0D9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700" y="1675227"/>
            <a:ext cx="9874600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34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EBCBE1-D6C1-DBF1-FFAD-DB5C81DCE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Metode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241CE-B13A-2180-DA7A-3CE1D6A06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A 4-a </a:t>
            </a:r>
            <a:r>
              <a:rPr lang="en-US" sz="2400" dirty="0" err="1">
                <a:ea typeface="+mn-lt"/>
                <a:cs typeface="+mn-lt"/>
              </a:rPr>
              <a:t>metodă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abordată</a:t>
            </a:r>
            <a:r>
              <a:rPr lang="en-US" sz="2400" dirty="0">
                <a:ea typeface="+mn-lt"/>
                <a:cs typeface="+mn-lt"/>
              </a:rPr>
              <a:t> se </a:t>
            </a:r>
            <a:r>
              <a:rPr lang="en-US" sz="2400" dirty="0" err="1">
                <a:ea typeface="+mn-lt"/>
                <a:cs typeface="+mn-lt"/>
              </a:rPr>
              <a:t>numește</a:t>
            </a:r>
            <a:r>
              <a:rPr lang="en-US" sz="2400" dirty="0">
                <a:ea typeface="+mn-lt"/>
                <a:cs typeface="+mn-lt"/>
              </a:rPr>
              <a:t> "</a:t>
            </a:r>
            <a:r>
              <a:rPr lang="en-US" sz="2400" dirty="0" err="1">
                <a:ea typeface="+mn-lt"/>
                <a:cs typeface="+mn-lt"/>
              </a:rPr>
              <a:t>Modelul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Fantomă</a:t>
            </a:r>
            <a:r>
              <a:rPr lang="en-US" sz="2400" dirty="0">
                <a:ea typeface="+mn-lt"/>
                <a:cs typeface="+mn-lt"/>
              </a:rPr>
              <a:t>" (</a:t>
            </a:r>
            <a:r>
              <a:rPr lang="en-US" sz="2400" dirty="0" err="1">
                <a:ea typeface="+mn-lt"/>
                <a:cs typeface="+mn-lt"/>
              </a:rPr>
              <a:t>pentru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că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rulează</a:t>
            </a:r>
            <a:r>
              <a:rPr lang="en-US" sz="2400" dirty="0">
                <a:ea typeface="+mn-lt"/>
                <a:cs typeface="+mn-lt"/>
              </a:rPr>
              <a:t> 2 </a:t>
            </a:r>
            <a:r>
              <a:rPr lang="en-US" sz="2400" dirty="0" err="1">
                <a:ea typeface="+mn-lt"/>
                <a:cs typeface="+mn-lt"/>
              </a:rPr>
              <a:t>modele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în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același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timp</a:t>
            </a:r>
            <a:r>
              <a:rPr lang="en-US" sz="2400" dirty="0">
                <a:ea typeface="+mn-lt"/>
                <a:cs typeface="+mn-lt"/>
              </a:rPr>
              <a:t>) </a:t>
            </a:r>
            <a:r>
              <a:rPr lang="en-US" sz="2400" dirty="0" err="1">
                <a:ea typeface="+mn-lt"/>
                <a:cs typeface="+mn-lt"/>
              </a:rPr>
              <a:t>și</a:t>
            </a:r>
            <a:r>
              <a:rPr lang="en-US" sz="2400" dirty="0">
                <a:ea typeface="+mn-lt"/>
                <a:cs typeface="+mn-lt"/>
              </a:rPr>
              <a:t> </a:t>
            </a:r>
            <a:r>
              <a:rPr lang="en-US" sz="2400" dirty="0" err="1">
                <a:ea typeface="+mn-lt"/>
                <a:cs typeface="+mn-lt"/>
              </a:rPr>
              <a:t>utilizează</a:t>
            </a:r>
            <a:r>
              <a:rPr lang="en-US" sz="2400" dirty="0">
                <a:ea typeface="+mn-lt"/>
                <a:cs typeface="+mn-lt"/>
              </a:rPr>
              <a:t> o </a:t>
            </a:r>
            <a:r>
              <a:rPr lang="en-US" sz="2400" dirty="0" err="1">
                <a:ea typeface="+mn-lt"/>
                <a:cs typeface="+mn-lt"/>
              </a:rPr>
              <a:t>arhitectură</a:t>
            </a:r>
            <a:r>
              <a:rPr lang="en-US" sz="2400" dirty="0">
                <a:ea typeface="+mn-lt"/>
                <a:cs typeface="+mn-lt"/>
              </a:rPr>
              <a:t> de control </a:t>
            </a:r>
            <a:r>
              <a:rPr lang="en-US" sz="2400" dirty="0" err="1">
                <a:ea typeface="+mn-lt"/>
                <a:cs typeface="+mn-lt"/>
              </a:rPr>
              <a:t>simplificată</a:t>
            </a:r>
            <a:r>
              <a:rPr lang="en-US" sz="2400" dirty="0">
                <a:ea typeface="+mn-lt"/>
                <a:cs typeface="+mn-lt"/>
              </a:rPr>
              <a:t> care </a:t>
            </a:r>
            <a:r>
              <a:rPr lang="en-US" sz="2400" dirty="0" err="1">
                <a:ea typeface="+mn-lt"/>
                <a:cs typeface="+mn-lt"/>
              </a:rPr>
              <a:t>elimină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necesitatea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calculării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explicite</a:t>
            </a:r>
            <a:r>
              <a:rPr lang="en-US" sz="2400" dirty="0">
                <a:ea typeface="+mn-lt"/>
                <a:cs typeface="+mn-lt"/>
              </a:rPr>
              <a:t> a </a:t>
            </a:r>
            <a:r>
              <a:rPr lang="en-US" sz="2400" dirty="0" err="1">
                <a:ea typeface="+mn-lt"/>
                <a:cs typeface="+mn-lt"/>
              </a:rPr>
              <a:t>matricelor</a:t>
            </a:r>
            <a:r>
              <a:rPr lang="en-US" sz="2400" dirty="0">
                <a:ea typeface="+mn-lt"/>
                <a:cs typeface="+mn-lt"/>
              </a:rPr>
              <a:t> de </a:t>
            </a:r>
            <a:r>
              <a:rPr lang="en-US" sz="2400" dirty="0" err="1">
                <a:ea typeface="+mn-lt"/>
                <a:cs typeface="+mn-lt"/>
              </a:rPr>
              <a:t>inerție</a:t>
            </a:r>
            <a:r>
              <a:rPr lang="en-US" sz="2400" dirty="0">
                <a:ea typeface="+mn-lt"/>
                <a:cs typeface="+mn-lt"/>
              </a:rPr>
              <a:t>, Coriolis, centrifuge </a:t>
            </a:r>
            <a:r>
              <a:rPr lang="en-US" sz="2400" dirty="0" err="1">
                <a:ea typeface="+mn-lt"/>
                <a:cs typeface="+mn-lt"/>
              </a:rPr>
              <a:t>și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gravitaționale</a:t>
            </a:r>
            <a:r>
              <a:rPr lang="en-US" sz="2400" dirty="0">
                <a:ea typeface="+mn-lt"/>
                <a:cs typeface="+mn-lt"/>
              </a:rPr>
              <a:t>. </a:t>
            </a:r>
            <a:r>
              <a:rPr lang="en-US" sz="2400" dirty="0" err="1">
                <a:ea typeface="+mn-lt"/>
                <a:cs typeface="+mn-lt"/>
              </a:rPr>
              <a:t>Această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optimizare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este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realizată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prin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integrarea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b="1" dirty="0" err="1">
                <a:ea typeface="+mn-lt"/>
                <a:cs typeface="+mn-lt"/>
              </a:rPr>
              <a:t>modelului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dirty="0" err="1">
                <a:ea typeface="+mn-lt"/>
                <a:cs typeface="+mn-lt"/>
              </a:rPr>
              <a:t>dinamic</a:t>
            </a:r>
            <a:r>
              <a:rPr lang="en-US" sz="2400" b="1" dirty="0">
                <a:ea typeface="+mn-lt"/>
                <a:cs typeface="+mn-lt"/>
              </a:rPr>
              <a:t> direct</a:t>
            </a:r>
            <a:r>
              <a:rPr lang="en-US" sz="2400" dirty="0">
                <a:ea typeface="+mn-lt"/>
                <a:cs typeface="+mn-lt"/>
              </a:rPr>
              <a:t> (</a:t>
            </a:r>
            <a:r>
              <a:rPr lang="en-US" sz="2400" dirty="0" err="1">
                <a:ea typeface="+mn-lt"/>
                <a:cs typeface="+mn-lt"/>
              </a:rPr>
              <a:t>marcat</a:t>
            </a:r>
            <a:r>
              <a:rPr lang="en-US" sz="2400" dirty="0">
                <a:ea typeface="+mn-lt"/>
                <a:cs typeface="+mn-lt"/>
              </a:rPr>
              <a:t> cu </a:t>
            </a:r>
            <a:r>
              <a:rPr lang="en-US" sz="2400" dirty="0" err="1">
                <a:ea typeface="+mn-lt"/>
                <a:cs typeface="+mn-lt"/>
              </a:rPr>
              <a:t>albastru</a:t>
            </a:r>
            <a:r>
              <a:rPr lang="en-US" sz="2400" dirty="0">
                <a:ea typeface="+mn-lt"/>
                <a:cs typeface="+mn-lt"/>
              </a:rPr>
              <a:t>; </a:t>
            </a:r>
            <a:r>
              <a:rPr lang="en-US" sz="2400" dirty="0" err="1">
                <a:ea typeface="+mn-lt"/>
                <a:cs typeface="+mn-lt"/>
              </a:rPr>
              <a:t>poziție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viteză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și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accelerație</a:t>
            </a:r>
            <a:r>
              <a:rPr lang="en-US" sz="2400" dirty="0">
                <a:ea typeface="+mn-lt"/>
                <a:cs typeface="+mn-lt"/>
              </a:rPr>
              <a:t> -&gt;moment) </a:t>
            </a:r>
            <a:r>
              <a:rPr lang="en-US" sz="2400" dirty="0" err="1">
                <a:ea typeface="+mn-lt"/>
                <a:cs typeface="+mn-lt"/>
              </a:rPr>
              <a:t>și</a:t>
            </a:r>
            <a:r>
              <a:rPr lang="en-US" sz="2400" dirty="0">
                <a:ea typeface="+mn-lt"/>
                <a:cs typeface="+mn-lt"/>
              </a:rPr>
              <a:t> a </a:t>
            </a:r>
            <a:r>
              <a:rPr lang="en-US" sz="2400" dirty="0" err="1">
                <a:ea typeface="+mn-lt"/>
                <a:cs typeface="+mn-lt"/>
              </a:rPr>
              <a:t>celui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b="1" dirty="0">
                <a:ea typeface="+mn-lt"/>
                <a:cs typeface="+mn-lt"/>
              </a:rPr>
              <a:t>invers</a:t>
            </a:r>
            <a:r>
              <a:rPr lang="en-US" sz="2400" dirty="0">
                <a:ea typeface="+mn-lt"/>
                <a:cs typeface="+mn-lt"/>
              </a:rPr>
              <a:t> (</a:t>
            </a:r>
            <a:r>
              <a:rPr lang="en-US" sz="2400" dirty="0" err="1">
                <a:ea typeface="+mn-lt"/>
                <a:cs typeface="+mn-lt"/>
              </a:rPr>
              <a:t>marcat</a:t>
            </a:r>
            <a:r>
              <a:rPr lang="en-US" sz="2400" dirty="0">
                <a:ea typeface="+mn-lt"/>
                <a:cs typeface="+mn-lt"/>
              </a:rPr>
              <a:t> cu </a:t>
            </a:r>
            <a:r>
              <a:rPr lang="en-US" sz="2400" dirty="0" err="1">
                <a:ea typeface="+mn-lt"/>
                <a:cs typeface="+mn-lt"/>
              </a:rPr>
              <a:t>roșu</a:t>
            </a:r>
            <a:r>
              <a:rPr lang="en-US" sz="2400" dirty="0">
                <a:ea typeface="+mn-lt"/>
                <a:cs typeface="+mn-lt"/>
              </a:rPr>
              <a:t>, moment-&gt; </a:t>
            </a:r>
            <a:r>
              <a:rPr lang="en-US" sz="2400" dirty="0" err="1">
                <a:ea typeface="+mn-lt"/>
                <a:cs typeface="+mn-lt"/>
              </a:rPr>
              <a:t>poziție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viteză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și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accelerație</a:t>
            </a:r>
            <a:r>
              <a:rPr lang="en-US" sz="2400" dirty="0">
                <a:ea typeface="+mn-lt"/>
                <a:cs typeface="+mn-lt"/>
              </a:rPr>
              <a:t>). </a:t>
            </a:r>
            <a:r>
              <a:rPr lang="en-US" sz="2400" dirty="0" err="1">
                <a:ea typeface="+mn-lt"/>
                <a:cs typeface="+mn-lt"/>
              </a:rPr>
              <a:t>Performanța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sistemului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este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reglată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printr</a:t>
            </a:r>
            <a:r>
              <a:rPr lang="en-US" sz="2400" dirty="0">
                <a:ea typeface="+mn-lt"/>
                <a:cs typeface="+mn-lt"/>
              </a:rPr>
              <a:t>-un </a:t>
            </a:r>
            <a:r>
              <a:rPr lang="en-US" sz="2400" dirty="0" err="1">
                <a:ea typeface="+mn-lt"/>
                <a:cs typeface="+mn-lt"/>
              </a:rPr>
              <a:t>controler</a:t>
            </a:r>
            <a:r>
              <a:rPr lang="en-US" sz="2400" dirty="0">
                <a:ea typeface="+mn-lt"/>
                <a:cs typeface="+mn-lt"/>
              </a:rPr>
              <a:t> de tip P, </a:t>
            </a:r>
            <a:r>
              <a:rPr lang="en-US" sz="2400" dirty="0" err="1">
                <a:ea typeface="+mn-lt"/>
                <a:cs typeface="+mn-lt"/>
              </a:rPr>
              <a:t>utilizând</a:t>
            </a:r>
            <a:r>
              <a:rPr lang="en-US" sz="2400" dirty="0">
                <a:ea typeface="+mn-lt"/>
                <a:cs typeface="+mn-lt"/>
              </a:rPr>
              <a:t> o </a:t>
            </a:r>
            <a:r>
              <a:rPr lang="en-US" sz="2400" dirty="0" err="1">
                <a:ea typeface="+mn-lt"/>
                <a:cs typeface="+mn-lt"/>
              </a:rPr>
              <a:t>componentă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proporțională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ridicată</a:t>
            </a:r>
            <a:r>
              <a:rPr lang="en-US" sz="2400" dirty="0">
                <a:ea typeface="+mn-lt"/>
                <a:cs typeface="+mn-lt"/>
              </a:rPr>
              <a:t> (</a:t>
            </a:r>
            <a:r>
              <a:rPr lang="en-US" sz="2400" dirty="0" err="1">
                <a:ea typeface="+mn-lt"/>
                <a:cs typeface="+mn-lt"/>
              </a:rPr>
              <a:t>K_p</a:t>
            </a:r>
            <a:r>
              <a:rPr lang="en-US" sz="2400" dirty="0">
                <a:ea typeface="+mn-lt"/>
                <a:cs typeface="+mn-lt"/>
              </a:rPr>
              <a:t> = 10000) </a:t>
            </a:r>
            <a:r>
              <a:rPr lang="en-US" sz="2400" dirty="0" err="1">
                <a:ea typeface="+mn-lt"/>
                <a:cs typeface="+mn-lt"/>
              </a:rPr>
              <a:t>și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componenta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integrativă</a:t>
            </a:r>
            <a:r>
              <a:rPr lang="en-US" sz="2400" dirty="0">
                <a:ea typeface="+mn-lt"/>
                <a:cs typeface="+mn-lt"/>
              </a:rPr>
              <a:t> (</a:t>
            </a:r>
            <a:r>
              <a:rPr lang="en-US" sz="2400" dirty="0" err="1">
                <a:ea typeface="+mn-lt"/>
                <a:cs typeface="+mn-lt"/>
              </a:rPr>
              <a:t>K_i</a:t>
            </a:r>
            <a:r>
              <a:rPr lang="en-US" sz="2400" dirty="0">
                <a:ea typeface="+mn-lt"/>
                <a:cs typeface="+mn-lt"/>
              </a:rPr>
              <a:t> = 0) </a:t>
            </a:r>
            <a:r>
              <a:rPr lang="en-US" sz="2400" dirty="0" err="1">
                <a:ea typeface="+mn-lt"/>
                <a:cs typeface="+mn-lt"/>
              </a:rPr>
              <a:t>pentru</a:t>
            </a:r>
            <a:r>
              <a:rPr lang="en-US" sz="2400" dirty="0">
                <a:ea typeface="+mn-lt"/>
                <a:cs typeface="+mn-lt"/>
              </a:rPr>
              <a:t> a asigura un </a:t>
            </a:r>
            <a:r>
              <a:rPr lang="en-US" sz="2400" dirty="0" err="1">
                <a:ea typeface="+mn-lt"/>
                <a:cs typeface="+mn-lt"/>
              </a:rPr>
              <a:t>răspuns</a:t>
            </a:r>
            <a:r>
              <a:rPr lang="en-US" sz="2400" dirty="0">
                <a:ea typeface="+mn-lt"/>
                <a:cs typeface="+mn-lt"/>
              </a:rPr>
              <a:t> rapid </a:t>
            </a:r>
            <a:r>
              <a:rPr lang="en-US" sz="2400" dirty="0" err="1">
                <a:ea typeface="+mn-lt"/>
                <a:cs typeface="+mn-lt"/>
              </a:rPr>
              <a:t>și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stabil</a:t>
            </a:r>
            <a:r>
              <a:rPr lang="en-US" sz="2400" dirty="0"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77843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lowchart: Document 37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1D0B40-C2B9-BE79-3A82-6E4B921A2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Metode</a:t>
            </a:r>
          </a:p>
        </p:txBody>
      </p:sp>
      <p:pic>
        <p:nvPicPr>
          <p:cNvPr id="8" name="Content Placeholder 7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BABEC487-A258-4CC9-093D-85DC156C61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1197674"/>
            <a:ext cx="7347537" cy="446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4640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73D348-57C4-4B52-61AC-DA9854669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A80C30-A932-C8CE-5C6B-96F4D8036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Metode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BA4CD-72EA-7D1C-BA07-975944466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Un </a:t>
            </a:r>
            <a:r>
              <a:rPr lang="en-US" err="1">
                <a:ea typeface="+mn-lt"/>
                <a:cs typeface="+mn-lt"/>
              </a:rPr>
              <a:t>avantaj</a:t>
            </a:r>
            <a:r>
              <a:rPr lang="en-US">
                <a:ea typeface="+mn-lt"/>
                <a:cs typeface="+mn-lt"/>
              </a:rPr>
              <a:t> al </a:t>
            </a:r>
            <a:r>
              <a:rPr lang="en-US" err="1">
                <a:ea typeface="+mn-lt"/>
                <a:cs typeface="+mn-lt"/>
              </a:rPr>
              <a:t>acestei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configurații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versatilitatea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nodului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calcul</a:t>
            </a:r>
            <a:r>
              <a:rPr lang="en-US">
                <a:ea typeface="+mn-lt"/>
                <a:cs typeface="+mn-lt"/>
              </a:rPr>
              <a:t>: </a:t>
            </a:r>
            <a:r>
              <a:rPr lang="en-US" err="1">
                <a:ea typeface="+mn-lt"/>
                <a:cs typeface="+mn-lt"/>
              </a:rPr>
              <a:t>sistemul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menține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stabilitatea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precizia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chiar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cazul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integrării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directe</a:t>
            </a:r>
            <a:r>
              <a:rPr lang="en-US" b="1">
                <a:ea typeface="+mn-lt"/>
                <a:cs typeface="+mn-lt"/>
              </a:rPr>
              <a:t> a </a:t>
            </a:r>
            <a:r>
              <a:rPr lang="en-US" b="1" err="1">
                <a:ea typeface="+mn-lt"/>
                <a:cs typeface="+mn-lt"/>
              </a:rPr>
              <a:t>accelerației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rezultate</a:t>
            </a:r>
            <a:r>
              <a:rPr lang="en-US">
                <a:ea typeface="+mn-lt"/>
                <a:cs typeface="+mn-lt"/>
              </a:rPr>
              <a:t> din </a:t>
            </a:r>
            <a:r>
              <a:rPr lang="en-US" err="1">
                <a:ea typeface="+mn-lt"/>
                <a:cs typeface="+mn-lt"/>
              </a:rPr>
              <a:t>punctul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sumare</a:t>
            </a:r>
            <a:r>
              <a:rPr lang="en-US">
                <a:ea typeface="+mn-lt"/>
                <a:cs typeface="+mn-lt"/>
              </a:rPr>
              <a:t>. </a:t>
            </a:r>
            <a:r>
              <a:rPr lang="en-US" err="1">
                <a:ea typeface="+mn-lt"/>
                <a:cs typeface="+mn-lt"/>
              </a:rPr>
              <a:t>Această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rută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marchează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cea</a:t>
            </a:r>
            <a:r>
              <a:rPr lang="en-US">
                <a:ea typeface="+mn-lt"/>
                <a:cs typeface="+mn-lt"/>
              </a:rPr>
              <a:t> de-a 5-a </a:t>
            </a:r>
            <a:r>
              <a:rPr lang="en-US" err="1">
                <a:ea typeface="+mn-lt"/>
                <a:cs typeface="+mn-lt"/>
              </a:rPr>
              <a:t>metodă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alternativă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procesare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confirmă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validitatea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modelelor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dinamice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implementate</a:t>
            </a:r>
            <a:r>
              <a:rPr lang="en-US"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5423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FFB035-7FC3-6A83-3CDF-777873B1F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0E8C3-1DDF-862B-620A-0D1D17FEC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Metode</a:t>
            </a:r>
          </a:p>
        </p:txBody>
      </p:sp>
      <p:pic>
        <p:nvPicPr>
          <p:cNvPr id="5" name="Content Placeholder 4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C7EB3758-21D1-B2B5-79BF-D4651B4D76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170954"/>
            <a:ext cx="7225748" cy="451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140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DD5C42-6F75-39EF-C3FE-96C7E79D9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44BC1A-A49D-206C-9C34-AB184E98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Metode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E5321-80E3-3FDB-F306-B6CF307B3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en-US" sz="2600">
              <a:ea typeface="+mn-lt"/>
              <a:cs typeface="+mn-lt"/>
            </a:endParaRPr>
          </a:p>
          <a:p>
            <a:r>
              <a:rPr lang="en-US" sz="2600" dirty="0">
                <a:ea typeface="+mn-lt"/>
                <a:cs typeface="+mn-lt"/>
              </a:rPr>
              <a:t>A 6-a </a:t>
            </a:r>
            <a:r>
              <a:rPr lang="en-US" sz="2600" dirty="0" err="1">
                <a:ea typeface="+mn-lt"/>
                <a:cs typeface="+mn-lt"/>
              </a:rPr>
              <a:t>metodă</a:t>
            </a:r>
            <a:r>
              <a:rPr lang="en-US" sz="2600" dirty="0">
                <a:ea typeface="+mn-lt"/>
                <a:cs typeface="+mn-lt"/>
              </a:rPr>
              <a:t> de </a:t>
            </a:r>
            <a:r>
              <a:rPr lang="en-US" sz="2600" dirty="0" err="1">
                <a:ea typeface="+mn-lt"/>
                <a:cs typeface="+mn-lt"/>
              </a:rPr>
              <a:t>simulare</a:t>
            </a:r>
            <a:r>
              <a:rPr lang="en-US" sz="2600" dirty="0">
                <a:ea typeface="+mn-lt"/>
                <a:cs typeface="+mn-lt"/>
              </a:rPr>
              <a:t> (Control cu regulator PID) </a:t>
            </a:r>
            <a:r>
              <a:rPr lang="en-US" sz="2600" dirty="0" err="1">
                <a:ea typeface="+mn-lt"/>
                <a:cs typeface="+mn-lt"/>
              </a:rPr>
              <a:t>utilizează</a:t>
            </a:r>
            <a:r>
              <a:rPr lang="en-US" sz="2600" dirty="0">
                <a:ea typeface="+mn-lt"/>
                <a:cs typeface="+mn-lt"/>
              </a:rPr>
              <a:t> un regulator PID </a:t>
            </a:r>
            <a:r>
              <a:rPr lang="en-US" sz="2600" dirty="0" err="1">
                <a:ea typeface="+mn-lt"/>
                <a:cs typeface="+mn-lt"/>
              </a:rPr>
              <a:t>pentru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controlul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mișcării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robotului</a:t>
            </a:r>
            <a:r>
              <a:rPr lang="en-US" sz="2600" dirty="0">
                <a:ea typeface="+mn-lt"/>
                <a:cs typeface="+mn-lt"/>
              </a:rPr>
              <a:t>, </a:t>
            </a:r>
            <a:r>
              <a:rPr lang="en-US" sz="2600" dirty="0" err="1">
                <a:ea typeface="+mn-lt"/>
                <a:cs typeface="+mn-lt"/>
              </a:rPr>
              <a:t>punând</a:t>
            </a:r>
            <a:r>
              <a:rPr lang="en-US" sz="2600" dirty="0">
                <a:ea typeface="+mn-lt"/>
                <a:cs typeface="+mn-lt"/>
              </a:rPr>
              <a:t> accent pe </a:t>
            </a:r>
            <a:r>
              <a:rPr lang="en-US" sz="2600" dirty="0" err="1">
                <a:ea typeface="+mn-lt"/>
                <a:cs typeface="+mn-lt"/>
              </a:rPr>
              <a:t>corelarea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dintre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răspunsul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sistemului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și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fereastra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temporală</a:t>
            </a:r>
            <a:r>
              <a:rPr lang="en-US" sz="2600" dirty="0">
                <a:ea typeface="+mn-lt"/>
                <a:cs typeface="+mn-lt"/>
              </a:rPr>
              <a:t> de </a:t>
            </a:r>
            <a:r>
              <a:rPr lang="en-US" sz="2600" dirty="0" err="1">
                <a:ea typeface="+mn-lt"/>
                <a:cs typeface="+mn-lt"/>
              </a:rPr>
              <a:t>execuție</a:t>
            </a:r>
            <a:r>
              <a:rPr lang="en-US" sz="2600" dirty="0">
                <a:ea typeface="+mn-lt"/>
                <a:cs typeface="+mn-lt"/>
              </a:rPr>
              <a:t>. </a:t>
            </a:r>
            <a:r>
              <a:rPr lang="en-US" sz="2600" dirty="0" err="1">
                <a:ea typeface="+mn-lt"/>
                <a:cs typeface="+mn-lt"/>
              </a:rPr>
              <a:t>Pentru</a:t>
            </a:r>
            <a:r>
              <a:rPr lang="en-US" sz="2600" dirty="0">
                <a:ea typeface="+mn-lt"/>
                <a:cs typeface="+mn-lt"/>
              </a:rPr>
              <a:t> a </a:t>
            </a:r>
            <a:r>
              <a:rPr lang="en-US" sz="2600" dirty="0" err="1">
                <a:ea typeface="+mn-lt"/>
                <a:cs typeface="+mn-lt"/>
              </a:rPr>
              <a:t>asigura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finalizarea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completă</a:t>
            </a:r>
            <a:r>
              <a:rPr lang="en-US" sz="2600" dirty="0">
                <a:ea typeface="+mn-lt"/>
                <a:cs typeface="+mn-lt"/>
              </a:rPr>
              <a:t> a </a:t>
            </a:r>
            <a:r>
              <a:rPr lang="en-US" sz="2600" dirty="0" err="1">
                <a:ea typeface="+mn-lt"/>
                <a:cs typeface="+mn-lt"/>
              </a:rPr>
              <a:t>traiectoriei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în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intervalul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impus</a:t>
            </a:r>
            <a:r>
              <a:rPr lang="en-US" sz="2600" dirty="0">
                <a:ea typeface="+mn-lt"/>
                <a:cs typeface="+mn-lt"/>
              </a:rPr>
              <a:t>, </a:t>
            </a:r>
            <a:r>
              <a:rPr lang="en-US" sz="2600" dirty="0" err="1">
                <a:ea typeface="+mn-lt"/>
                <a:cs typeface="+mn-lt"/>
              </a:rPr>
              <a:t>parametrul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b="1" dirty="0" err="1">
                <a:ea typeface="+mn-lt"/>
                <a:cs typeface="+mn-lt"/>
              </a:rPr>
              <a:t>Kp</a:t>
            </a:r>
            <a:r>
              <a:rPr lang="en-US" sz="2600" b="1" dirty="0">
                <a:ea typeface="+mn-lt"/>
                <a:cs typeface="+mn-lt"/>
              </a:rPr>
              <a:t> </a:t>
            </a:r>
            <a:r>
              <a:rPr lang="en-US" sz="2600" b="1" dirty="0" err="1">
                <a:ea typeface="+mn-lt"/>
                <a:cs typeface="+mn-lt"/>
              </a:rPr>
              <a:t>poate</a:t>
            </a:r>
            <a:r>
              <a:rPr lang="en-US" sz="2600" b="1" dirty="0">
                <a:ea typeface="+mn-lt"/>
                <a:cs typeface="+mn-lt"/>
              </a:rPr>
              <a:t> fi </a:t>
            </a:r>
            <a:r>
              <a:rPr lang="en-US" sz="2600" b="1" dirty="0" err="1">
                <a:ea typeface="+mn-lt"/>
                <a:cs typeface="+mn-lt"/>
              </a:rPr>
              <a:t>optimizat</a:t>
            </a:r>
            <a:r>
              <a:rPr lang="en-US" sz="2600" dirty="0">
                <a:ea typeface="+mn-lt"/>
                <a:cs typeface="+mn-lt"/>
              </a:rPr>
              <a:t>, </a:t>
            </a:r>
            <a:r>
              <a:rPr lang="en-US" sz="2600" dirty="0" err="1">
                <a:ea typeface="+mn-lt"/>
                <a:cs typeface="+mn-lt"/>
              </a:rPr>
              <a:t>aici</a:t>
            </a:r>
            <a:r>
              <a:rPr lang="en-US" sz="2600" dirty="0">
                <a:ea typeface="+mn-lt"/>
                <a:cs typeface="+mn-lt"/>
              </a:rPr>
              <a:t> are </a:t>
            </a:r>
            <a:r>
              <a:rPr lang="en-US" sz="2600" dirty="0" err="1">
                <a:ea typeface="+mn-lt"/>
                <a:cs typeface="+mn-lt"/>
              </a:rPr>
              <a:t>valoarea</a:t>
            </a:r>
            <a:r>
              <a:rPr lang="en-US" sz="2600" dirty="0">
                <a:ea typeface="+mn-lt"/>
                <a:cs typeface="+mn-lt"/>
              </a:rPr>
              <a:t> de 100. Ca </a:t>
            </a:r>
            <a:r>
              <a:rPr lang="en-US" sz="2600" dirty="0" err="1">
                <a:ea typeface="+mn-lt"/>
                <a:cs typeface="+mn-lt"/>
              </a:rPr>
              <a:t>intrare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și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ieșire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în</a:t>
            </a:r>
            <a:r>
              <a:rPr lang="en-US" sz="2600" dirty="0">
                <a:ea typeface="+mn-lt"/>
                <a:cs typeface="+mn-lt"/>
              </a:rPr>
              <a:t> model </a:t>
            </a:r>
            <a:r>
              <a:rPr lang="en-US" sz="2600" dirty="0" err="1">
                <a:ea typeface="+mn-lt"/>
                <a:cs typeface="+mn-lt"/>
              </a:rPr>
              <a:t>avem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parametrul</a:t>
            </a:r>
            <a:r>
              <a:rPr lang="en-US" sz="2600" dirty="0">
                <a:ea typeface="+mn-lt"/>
                <a:cs typeface="+mn-lt"/>
              </a:rPr>
              <a:t> de </a:t>
            </a:r>
            <a:r>
              <a:rPr lang="en-US" sz="2600" dirty="0" err="1">
                <a:ea typeface="+mn-lt"/>
                <a:cs typeface="+mn-lt"/>
              </a:rPr>
              <a:t>poziție</a:t>
            </a:r>
            <a:r>
              <a:rPr lang="en-US" sz="2600" dirty="0">
                <a:ea typeface="+mn-lt"/>
                <a:cs typeface="+mn-lt"/>
              </a:rPr>
              <a:t>.</a:t>
            </a:r>
          </a:p>
          <a:p>
            <a:r>
              <a:rPr lang="en-US" sz="2600" err="1">
                <a:ea typeface="+mn-lt"/>
                <a:cs typeface="+mn-lt"/>
              </a:rPr>
              <a:t>În</a:t>
            </a:r>
            <a:r>
              <a:rPr lang="en-US" sz="2600">
                <a:ea typeface="+mn-lt"/>
                <a:cs typeface="+mn-lt"/>
              </a:rPr>
              <a:t> block-ul mare </a:t>
            </a:r>
            <a:r>
              <a:rPr lang="en-US" sz="2600" err="1">
                <a:ea typeface="+mn-lt"/>
                <a:cs typeface="+mn-lt"/>
              </a:rPr>
              <a:t>este</a:t>
            </a:r>
            <a:r>
              <a:rPr lang="en-US" sz="2600">
                <a:ea typeface="+mn-lt"/>
                <a:cs typeface="+mn-lt"/>
              </a:rPr>
              <a:t> </a:t>
            </a:r>
            <a:r>
              <a:rPr lang="en-US" sz="2600" err="1">
                <a:ea typeface="+mn-lt"/>
                <a:cs typeface="+mn-lt"/>
              </a:rPr>
              <a:t>construcția</a:t>
            </a:r>
            <a:r>
              <a:rPr lang="en-US" sz="2600">
                <a:ea typeface="+mn-lt"/>
                <a:cs typeface="+mn-lt"/>
              </a:rPr>
              <a:t> </a:t>
            </a:r>
            <a:r>
              <a:rPr lang="en-US" sz="2600" err="1">
                <a:ea typeface="+mn-lt"/>
                <a:cs typeface="+mn-lt"/>
              </a:rPr>
              <a:t>robotului</a:t>
            </a:r>
            <a:r>
              <a:rPr lang="en-US" sz="2600"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67495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F6319B-1FA4-BEA1-9D39-5233AB3C1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3043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4DC522-BC8D-7F04-A95B-68F3251BC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5322147"/>
            <a:ext cx="11210925" cy="744836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Metode</a:t>
            </a:r>
          </a:p>
        </p:txBody>
      </p:sp>
      <p:pic>
        <p:nvPicPr>
          <p:cNvPr id="6" name="Content Placeholder 5" descr="A diagram of a computer&#10;&#10;AI-generated content may be incorrect.">
            <a:extLst>
              <a:ext uri="{FF2B5EF4-FFF2-40B4-BE49-F238E27FC236}">
                <a16:creationId xmlns:a16="http://schemas.microsoft.com/office/drawing/2014/main" id="{D7F6B106-D7DD-1363-4A93-CBFAFA904B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4626"/>
          <a:stretch>
            <a:fillRect/>
          </a:stretch>
        </p:blipFill>
        <p:spPr>
          <a:xfrm>
            <a:off x="643467" y="468546"/>
            <a:ext cx="10905066" cy="418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142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84DEE-EE57-D55F-F1A5-9E7E85A24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/>
              <a:t>Rezultate experimentale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7DBA50-1E37-A8ED-B9CA-75959A698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 err="1"/>
              <a:t>Momentul</a:t>
            </a:r>
            <a:r>
              <a:rPr lang="en-US" sz="2200" dirty="0"/>
              <a:t> </a:t>
            </a:r>
            <a:r>
              <a:rPr lang="en-US" sz="2200" dirty="0" err="1"/>
              <a:t>primei</a:t>
            </a:r>
            <a:r>
              <a:rPr lang="en-US" sz="2200" dirty="0"/>
              <a:t> </a:t>
            </a:r>
            <a:r>
              <a:rPr lang="en-US" sz="2200" dirty="0" err="1"/>
              <a:t>cuple</a:t>
            </a:r>
            <a:r>
              <a:rPr lang="en-US" sz="2200" dirty="0"/>
              <a:t> </a:t>
            </a:r>
            <a:r>
              <a:rPr lang="en-US" sz="2200"/>
              <a:t>(metoda 1).</a:t>
            </a:r>
          </a:p>
        </p:txBody>
      </p:sp>
      <p:pic>
        <p:nvPicPr>
          <p:cNvPr id="4" name="Content Placeholder 3" descr="A screen shot of a graph&#10;&#10;AI-generated content may be incorrect.">
            <a:extLst>
              <a:ext uri="{FF2B5EF4-FFF2-40B4-BE49-F238E27FC236}">
                <a16:creationId xmlns:a16="http://schemas.microsoft.com/office/drawing/2014/main" id="{101B1329-42DD-CE03-8265-FC3139833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940" y="640080"/>
            <a:ext cx="6180432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6774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7EDC56-6BAE-9B11-B515-39E032518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/>
              <a:t>Rezultate experimentale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DB78F93-7A4B-16C1-4E42-59F4E46DE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 lnSpcReduction="10000"/>
          </a:bodyPr>
          <a:lstStyle/>
          <a:p>
            <a:r>
              <a:rPr lang="en-US" sz="2200" dirty="0" err="1"/>
              <a:t>Poziția</a:t>
            </a:r>
            <a:r>
              <a:rPr lang="en-US" sz="2200" dirty="0"/>
              <a:t> </a:t>
            </a:r>
            <a:r>
              <a:rPr lang="en-US" sz="2200" dirty="0" err="1"/>
              <a:t>primei</a:t>
            </a:r>
            <a:r>
              <a:rPr lang="en-US" sz="2200" dirty="0"/>
              <a:t> </a:t>
            </a:r>
            <a:r>
              <a:rPr lang="en-US" sz="2200" dirty="0" err="1"/>
              <a:t>cuple</a:t>
            </a:r>
            <a:r>
              <a:rPr lang="en-US" sz="2200" dirty="0"/>
              <a:t>(metoda 2).</a:t>
            </a:r>
          </a:p>
          <a:p>
            <a:r>
              <a:rPr lang="en-US" sz="2200" dirty="0" err="1"/>
              <a:t>Greșeala</a:t>
            </a:r>
            <a:r>
              <a:rPr lang="en-US" sz="2200" dirty="0"/>
              <a:t> </a:t>
            </a:r>
            <a:r>
              <a:rPr lang="en-US" sz="2200" dirty="0" err="1"/>
              <a:t>pentru</a:t>
            </a:r>
            <a:r>
              <a:rPr lang="en-US" sz="2200" dirty="0"/>
              <a:t> </a:t>
            </a:r>
            <a:r>
              <a:rPr lang="en-US" sz="2200" dirty="0" err="1"/>
              <a:t>că</a:t>
            </a:r>
            <a:r>
              <a:rPr lang="en-US" sz="2200" dirty="0"/>
              <a:t> nu merge la </a:t>
            </a:r>
            <a:r>
              <a:rPr lang="en-US" sz="2200" dirty="0" err="1"/>
              <a:t>poziția</a:t>
            </a:r>
            <a:r>
              <a:rPr lang="en-US" sz="2200" dirty="0"/>
              <a:t> </a:t>
            </a:r>
            <a:r>
              <a:rPr lang="en-US" sz="2200" dirty="0" err="1"/>
              <a:t>dorită</a:t>
            </a:r>
            <a:r>
              <a:rPr lang="en-US" sz="2200" dirty="0"/>
              <a:t>, </a:t>
            </a:r>
            <a:r>
              <a:rPr lang="en-US" sz="2200" dirty="0" err="1"/>
              <a:t>și</a:t>
            </a:r>
            <a:r>
              <a:rPr lang="en-US" sz="2200" dirty="0"/>
              <a:t> s-a </a:t>
            </a:r>
            <a:r>
              <a:rPr lang="en-US" sz="2200" dirty="0" err="1"/>
              <a:t>oprit</a:t>
            </a:r>
            <a:r>
              <a:rPr lang="en-US" sz="2200" dirty="0"/>
              <a:t> </a:t>
            </a:r>
            <a:r>
              <a:rPr lang="en-US" sz="2200" dirty="0" err="1"/>
              <a:t>mai</a:t>
            </a:r>
            <a:r>
              <a:rPr lang="en-US" sz="2200" dirty="0"/>
              <a:t> </a:t>
            </a:r>
            <a:r>
              <a:rPr lang="en-US" sz="2200" dirty="0" err="1"/>
              <a:t>devreme</a:t>
            </a:r>
            <a:r>
              <a:rPr lang="en-US" sz="2200" dirty="0"/>
              <a:t> de 4 </a:t>
            </a:r>
            <a:r>
              <a:rPr lang="en-US" sz="2200" dirty="0" err="1"/>
              <a:t>secunde</a:t>
            </a:r>
            <a:r>
              <a:rPr lang="en-US" sz="2200" dirty="0"/>
              <a:t> </a:t>
            </a:r>
            <a:r>
              <a:rPr lang="en-US" sz="2200" dirty="0" err="1"/>
              <a:t>deoarece</a:t>
            </a:r>
            <a:r>
              <a:rPr lang="en-US" sz="2200" dirty="0"/>
              <a:t> la 3,571 </a:t>
            </a:r>
            <a:r>
              <a:rPr lang="en-US" sz="2200" dirty="0" err="1"/>
              <a:t>secunde</a:t>
            </a:r>
            <a:r>
              <a:rPr lang="en-US" sz="2200" dirty="0"/>
              <a:t> </a:t>
            </a:r>
            <a:r>
              <a:rPr lang="en-US" sz="2200" dirty="0" err="1"/>
              <a:t>dă</a:t>
            </a:r>
            <a:r>
              <a:rPr lang="en-US" sz="2200" dirty="0"/>
              <a:t> </a:t>
            </a:r>
            <a:r>
              <a:rPr lang="en-US" sz="2200" dirty="0" err="1"/>
              <a:t>eroare</a:t>
            </a:r>
            <a:r>
              <a:rPr lang="en-US" sz="2200" dirty="0"/>
              <a:t> </a:t>
            </a:r>
            <a:r>
              <a:rPr lang="en-US" sz="2200" dirty="0" err="1"/>
              <a:t>simularea</a:t>
            </a:r>
            <a:r>
              <a:rPr lang="en-US" sz="2200" dirty="0"/>
              <a:t>.</a:t>
            </a:r>
          </a:p>
          <a:p>
            <a:r>
              <a:rPr lang="en-US" sz="2200" dirty="0" err="1"/>
              <a:t>Ar</a:t>
            </a:r>
            <a:r>
              <a:rPr lang="en-US" sz="2200" dirty="0"/>
              <a:t> fi </a:t>
            </a:r>
            <a:r>
              <a:rPr lang="en-US" sz="2200" dirty="0" err="1"/>
              <a:t>trebuit</a:t>
            </a:r>
            <a:r>
              <a:rPr lang="en-US" sz="2200" dirty="0"/>
              <a:t> </a:t>
            </a:r>
            <a:r>
              <a:rPr lang="en-US" sz="2200" dirty="0" err="1"/>
              <a:t>să</a:t>
            </a:r>
            <a:r>
              <a:rPr lang="en-US" sz="2200" dirty="0"/>
              <a:t> </a:t>
            </a:r>
            <a:r>
              <a:rPr lang="en-US" sz="2200" dirty="0" err="1"/>
              <a:t>arate</a:t>
            </a:r>
            <a:r>
              <a:rPr lang="en-US" sz="2200" dirty="0"/>
              <a:t> ca </a:t>
            </a:r>
            <a:r>
              <a:rPr lang="en-US" sz="2200" dirty="0" err="1"/>
              <a:t>poziția</a:t>
            </a:r>
            <a:r>
              <a:rPr lang="en-US" sz="2200" dirty="0"/>
              <a:t> din </a:t>
            </a:r>
            <a:r>
              <a:rPr lang="en-US" sz="2200" dirty="0" err="1"/>
              <a:t>primul</a:t>
            </a:r>
            <a:r>
              <a:rPr lang="en-US" sz="2200" dirty="0"/>
              <a:t> </a:t>
            </a:r>
            <a:r>
              <a:rPr lang="en-US" sz="2200" dirty="0" err="1"/>
              <a:t>grafic</a:t>
            </a:r>
            <a:r>
              <a:rPr lang="en-US" sz="2200" dirty="0"/>
              <a:t> </a:t>
            </a:r>
            <a:r>
              <a:rPr lang="en-US" sz="2200" dirty="0" err="1"/>
              <a:t>prezentat</a:t>
            </a:r>
            <a:r>
              <a:rPr lang="en-US" sz="2200" dirty="0"/>
              <a:t> la </a:t>
            </a:r>
            <a:r>
              <a:rPr lang="en-US" sz="2200" dirty="0" err="1"/>
              <a:t>început</a:t>
            </a:r>
            <a:r>
              <a:rPr lang="en-US" sz="2200" dirty="0"/>
              <a:t>. </a:t>
            </a:r>
          </a:p>
        </p:txBody>
      </p:sp>
      <p:pic>
        <p:nvPicPr>
          <p:cNvPr id="5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CED3D0ED-AEC1-72A8-13DC-A1763F279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711" y="640080"/>
            <a:ext cx="628489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2053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BA2ED3-B56E-ED27-C637-A94EB8994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Rezultate experimentale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28A4DC5-B171-C34D-9929-CF74D887B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kern="1200" dirty="0" err="1">
                <a:latin typeface="+mn-lt"/>
                <a:ea typeface="+mn-ea"/>
                <a:cs typeface="+mn-cs"/>
              </a:rPr>
              <a:t>Eroarea</a:t>
            </a:r>
            <a:r>
              <a:rPr lang="en-US" sz="2400" kern="1200">
                <a:latin typeface="+mn-lt"/>
                <a:ea typeface="+mn-ea"/>
                <a:cs typeface="+mn-cs"/>
              </a:rPr>
              <a:t> (</a:t>
            </a:r>
            <a:r>
              <a:rPr lang="en-US" sz="2400"/>
              <a:t>metoda 3).</a:t>
            </a: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 shot of a graph&#10;&#10;AI-generated content may be incorrect.">
            <a:extLst>
              <a:ext uri="{FF2B5EF4-FFF2-40B4-BE49-F238E27FC236}">
                <a16:creationId xmlns:a16="http://schemas.microsoft.com/office/drawing/2014/main" id="{96B1D039-C9A2-C19E-A7E8-0A1D5A8A2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817" y="640080"/>
            <a:ext cx="6201573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2143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EBF2C0-FE46-56AB-0208-583C16965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/>
              <a:t>Rezultate experimentale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59781-C938-96D3-F0E2-2D2600EFF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 err="1"/>
              <a:t>Poziția</a:t>
            </a:r>
            <a:r>
              <a:rPr lang="en-US" sz="2200" dirty="0"/>
              <a:t> </a:t>
            </a:r>
            <a:r>
              <a:rPr lang="en-US" sz="2200" dirty="0" err="1"/>
              <a:t>este</a:t>
            </a:r>
            <a:r>
              <a:rPr lang="en-US" sz="2200" dirty="0"/>
              <a:t> </a:t>
            </a:r>
            <a:r>
              <a:rPr lang="en-US" sz="2200" dirty="0" err="1"/>
              <a:t>corespunzătoare</a:t>
            </a:r>
            <a:r>
              <a:rPr lang="en-US" sz="2200" dirty="0"/>
              <a:t> </a:t>
            </a:r>
            <a:r>
              <a:rPr lang="en-US" sz="2200" dirty="0" err="1"/>
              <a:t>graficului</a:t>
            </a:r>
            <a:r>
              <a:rPr lang="en-US" sz="2200" dirty="0"/>
              <a:t> </a:t>
            </a:r>
            <a:r>
              <a:rPr lang="en-US" sz="2200" dirty="0" err="1"/>
              <a:t>prezentat</a:t>
            </a:r>
            <a:r>
              <a:rPr lang="en-US" sz="2200" dirty="0"/>
              <a:t> la </a:t>
            </a:r>
            <a:r>
              <a:rPr lang="en-US" sz="2200" dirty="0" err="1"/>
              <a:t>început</a:t>
            </a:r>
            <a:r>
              <a:rPr lang="en-US" sz="2200" dirty="0"/>
              <a:t>.(</a:t>
            </a:r>
            <a:r>
              <a:rPr lang="en-US" sz="2200" dirty="0" err="1"/>
              <a:t>metoda</a:t>
            </a:r>
            <a:r>
              <a:rPr lang="en-US" sz="2200" dirty="0"/>
              <a:t> 3).</a:t>
            </a:r>
          </a:p>
        </p:txBody>
      </p:sp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4303F75F-03FC-9511-D513-8531FF7E0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538" y="640080"/>
            <a:ext cx="6267235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199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3BB755-44BD-657C-3F48-3362AB6B4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/>
              <a:t>Rezultate experimentale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12B25-09B1-343F-F48D-2070DB50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Momentele</a:t>
            </a:r>
            <a:r>
              <a:rPr lang="en-US" sz="2200" dirty="0"/>
              <a:t> </a:t>
            </a:r>
            <a:r>
              <a:rPr lang="en-US" sz="2200"/>
              <a:t>cuplelor</a:t>
            </a:r>
            <a:r>
              <a:rPr lang="en-US" sz="2200" dirty="0"/>
              <a:t> (</a:t>
            </a:r>
            <a:r>
              <a:rPr lang="en-US" sz="2200"/>
              <a:t>metoda</a:t>
            </a:r>
            <a:r>
              <a:rPr lang="en-US" sz="2200" dirty="0"/>
              <a:t> 4).</a:t>
            </a:r>
          </a:p>
        </p:txBody>
      </p:sp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81C5EF4A-3AC1-721C-F7B3-DF69F536D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316" y="640080"/>
            <a:ext cx="6249679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893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FA7F65-B353-BFBA-D6A4-1C5697B19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Rezultate experimentale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66E85-9E24-69BF-D3A9-2C3ABA116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Eroarea cu foarte mult zgomot (metoda 4).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4CB304D-F7CB-2BFA-0EB0-E25F1BA2C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781" y="640080"/>
            <a:ext cx="6271646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8961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F8DBB0-4EE0-B0A3-8036-6C362217F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Rezultate experimentale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BF857-453F-0AC6-54FF-925E6480E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6577" y="199287"/>
            <a:ext cx="3226526" cy="11556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</a:rPr>
              <a:t>Poziția, viteza și accelerația foarte zgomotoase (metoda 4).</a:t>
            </a:r>
          </a:p>
        </p:txBody>
      </p:sp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FCF0C880-F948-C442-D4DE-21E8E4732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553" y="2767494"/>
            <a:ext cx="3238707" cy="2890546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A6AB42-FC0B-481D-85F5-A54ADA645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646" y="2767494"/>
            <a:ext cx="3238707" cy="2890546"/>
          </a:xfrm>
          <a:prstGeom prst="rect">
            <a:avLst/>
          </a:prstGeom>
        </p:spPr>
      </p:pic>
      <p:pic>
        <p:nvPicPr>
          <p:cNvPr id="6" name="Picture 5" descr="A screen shot of a graph&#10;&#10;AI-generated content may be incorrect.">
            <a:extLst>
              <a:ext uri="{FF2B5EF4-FFF2-40B4-BE49-F238E27FC236}">
                <a16:creationId xmlns:a16="http://schemas.microsoft.com/office/drawing/2014/main" id="{EDBD42DF-B795-30E7-5175-2741CA20A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740" y="2771542"/>
            <a:ext cx="3238707" cy="288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2666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EBF2C0-FE46-56AB-0208-583C16965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Rezultate experimentale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59781-C938-96D3-F0E2-2D2600EFF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Eroarea (metoda 5).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8515DFD-66D5-5E84-C0C7-03AE836EE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132" y="640080"/>
            <a:ext cx="6218943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9714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DC14DB-B8F9-4B8E-BB6F-1CC0293C9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C5EC73-3999-4CE9-A304-0A33B4311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B9A272B-67F2-46A4-B06F-101732A5F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8EF83DF-E89A-4293-94F8-248AE6FFA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003F16D-B722-422C-868F-66445FB7D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708FAAE-788F-421F-A2EB-632D835FE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77B41AC-EB78-4F9A-9231-5D206904A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0EE776E-342A-4022-AAB0-FD4485EE1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8BAE954-49B9-4847-8618-F1B4BFFCF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079984-8223-9CEA-82CC-05F891F0D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30936"/>
            <a:ext cx="5297723" cy="2212175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Rezultate experimentale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15D645-CAC7-46F1-BA18-D731D0890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DF268E0-ACCF-492F-8275-1F0AA256B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1B9E42-44B3-4EBD-8F71-13C6ED340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63748F2-877D-4C3C-8AEB-59CC1F70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9D52DA-0AA6-474D-966F-FB4C5F5B5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D800825-8618-4241-8589-CB2AE17CF7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DEEA8-0724-D988-61A8-8A6CB022C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9978" y="630936"/>
            <a:ext cx="5297724" cy="219681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Poziția, viteza și accelerația, asemănătoare cu cele inițiale, doar accelerația e cu zgomot (metoda 5).</a:t>
            </a:r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D4A690B-D426-E28A-6AD3-AE6A2E56B6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" r="-2" b="-2"/>
          <a:stretch>
            <a:fillRect/>
          </a:stretch>
        </p:blipFill>
        <p:spPr>
          <a:xfrm>
            <a:off x="603504" y="2953175"/>
            <a:ext cx="3549663" cy="3157838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9179F18E-58CC-4A89-979E-34AC693B2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3069202"/>
            <a:ext cx="304800" cy="429768"/>
            <a:chOff x="215328" y="-46937"/>
            <a:chExt cx="304800" cy="2773841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07F5E0-56E3-4C0B-87D3-3C1C03DD1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FEA19CE-000C-4F9C-9DF4-D1E8A03F9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A5452EE-DDDB-4EEF-8570-B0FA6C98B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48CC4D6-CE8A-4006-834E-52FCCF740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CB81C198-74B3-1C4B-84AD-1073AAFD78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7" r="4" b="4"/>
          <a:stretch>
            <a:fillRect/>
          </a:stretch>
        </p:blipFill>
        <p:spPr>
          <a:xfrm>
            <a:off x="4280448" y="2941901"/>
            <a:ext cx="3549663" cy="3162873"/>
          </a:xfrm>
          <a:prstGeom prst="rect">
            <a:avLst/>
          </a:prstGeom>
        </p:spPr>
      </p:pic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77E58CCF-35BE-F382-20CC-AE28EF8FFA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43" r="-2" b="-2"/>
          <a:stretch>
            <a:fillRect/>
          </a:stretch>
        </p:blipFill>
        <p:spPr>
          <a:xfrm>
            <a:off x="7949294" y="2941901"/>
            <a:ext cx="3549663" cy="3162873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C953D31-C1A7-4FC4-8CDF-85E2F34AB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0F141FE-87E1-4A1E-97A5-B072042E0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523F37A-A07A-4CAC-AFC1-3FA4FD4BFC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88A387D-82C8-40B7-BADA-6BDBD9B3B1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EB29A9F-593B-416C-AC64-DE56AE976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4A393C6-4F1D-4472-A646-B2BADD561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36444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BA2ED3-B56E-ED27-C637-A94EB8994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Rezultate experimentale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28A4DC5-B171-C34D-9929-CF74D887B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1507" y="387224"/>
            <a:ext cx="3291839" cy="8304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</a:rPr>
              <a:t>Eroarea și poziția(metoda 6).</a:t>
            </a:r>
          </a:p>
        </p:txBody>
      </p:sp>
      <p:pic>
        <p:nvPicPr>
          <p:cNvPr id="3" name="Picture 2" descr="A screen shot of a graph&#10;&#10;AI-generated content may be incorrect.">
            <a:extLst>
              <a:ext uri="{FF2B5EF4-FFF2-40B4-BE49-F238E27FC236}">
                <a16:creationId xmlns:a16="http://schemas.microsoft.com/office/drawing/2014/main" id="{A5E5BF0E-9559-8309-1B11-DF426CE06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732" y="2181426"/>
            <a:ext cx="4517103" cy="3997637"/>
          </a:xfrm>
          <a:prstGeom prst="rect">
            <a:avLst/>
          </a:prstGeom>
        </p:spPr>
      </p:pic>
      <p:pic>
        <p:nvPicPr>
          <p:cNvPr id="5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CCB61A64-DDE9-C9D8-DF43-933F3CCA2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217815"/>
            <a:ext cx="4479361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2406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C123B5-951A-A66D-31B3-8615E0C98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Concluzii și îmbunătațiri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F2592-13D7-E808-767F-8D99ED5B6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000" dirty="0" err="1">
                <a:ea typeface="+mn-lt"/>
                <a:cs typeface="+mn-lt"/>
              </a:rPr>
              <a:t>Modelul</a:t>
            </a:r>
            <a:r>
              <a:rPr lang="en-US" sz="2000" dirty="0">
                <a:ea typeface="+mn-lt"/>
                <a:cs typeface="+mn-lt"/>
              </a:rPr>
              <a:t> virtual open-source </a:t>
            </a:r>
            <a:r>
              <a:rPr lang="en-US" sz="2000" dirty="0" err="1">
                <a:ea typeface="+mn-lt"/>
                <a:cs typeface="+mn-lt"/>
              </a:rPr>
              <a:t>utilizat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în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simulare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este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construit</a:t>
            </a:r>
            <a:r>
              <a:rPr lang="en-US" sz="2000" dirty="0">
                <a:ea typeface="+mn-lt"/>
                <a:cs typeface="+mn-lt"/>
              </a:rPr>
              <a:t> la </a:t>
            </a:r>
            <a:r>
              <a:rPr lang="en-US" sz="2000" dirty="0" err="1">
                <a:ea typeface="+mn-lt"/>
                <a:cs typeface="+mn-lt"/>
              </a:rPr>
              <a:t>scară</a:t>
            </a:r>
            <a:r>
              <a:rPr lang="en-US" sz="2000" dirty="0">
                <a:ea typeface="+mn-lt"/>
                <a:cs typeface="+mn-lt"/>
              </a:rPr>
              <a:t> 1:1 </a:t>
            </a:r>
            <a:r>
              <a:rPr lang="en-US" sz="2000" dirty="0" err="1">
                <a:ea typeface="+mn-lt"/>
                <a:cs typeface="+mn-lt"/>
              </a:rPr>
              <a:t>după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robotul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fizic</a:t>
            </a:r>
            <a:r>
              <a:rPr lang="en-US" sz="2000" dirty="0">
                <a:ea typeface="+mn-lt"/>
                <a:cs typeface="+mn-lt"/>
              </a:rPr>
              <a:t> existent, </a:t>
            </a:r>
            <a:r>
              <a:rPr lang="en-US" sz="2000" dirty="0" err="1">
                <a:ea typeface="+mn-lt"/>
                <a:cs typeface="+mn-lt"/>
              </a:rPr>
              <a:t>asigurând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astfel</a:t>
            </a:r>
            <a:r>
              <a:rPr lang="en-US" sz="2000" dirty="0">
                <a:ea typeface="+mn-lt"/>
                <a:cs typeface="+mn-lt"/>
              </a:rPr>
              <a:t> o </a:t>
            </a:r>
            <a:r>
              <a:rPr lang="en-US" sz="2000" dirty="0" err="1">
                <a:ea typeface="+mn-lt"/>
                <a:cs typeface="+mn-lt"/>
              </a:rPr>
              <a:t>corespondență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directă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între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parametrii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simulați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și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comportamentul</a:t>
            </a:r>
            <a:r>
              <a:rPr lang="en-US" sz="2000" dirty="0">
                <a:ea typeface="+mn-lt"/>
                <a:cs typeface="+mn-lt"/>
              </a:rPr>
              <a:t> real.</a:t>
            </a:r>
            <a:endParaRPr lang="en-US" sz="2000" dirty="0"/>
          </a:p>
          <a:p>
            <a:pPr algn="just"/>
            <a:r>
              <a:rPr lang="en-US" sz="2000" b="1" dirty="0" err="1">
                <a:ea typeface="+mn-lt"/>
                <a:cs typeface="+mn-lt"/>
              </a:rPr>
              <a:t>Eroare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Identificată</a:t>
            </a:r>
            <a:r>
              <a:rPr lang="en-US" sz="2000" b="1" dirty="0">
                <a:ea typeface="+mn-lt"/>
                <a:cs typeface="+mn-lt"/>
              </a:rPr>
              <a:t>: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Elementele</a:t>
            </a:r>
            <a:r>
              <a:rPr lang="en-US" sz="2000" dirty="0">
                <a:ea typeface="+mn-lt"/>
                <a:cs typeface="+mn-lt"/>
              </a:rPr>
              <a:t> de </a:t>
            </a:r>
            <a:r>
              <a:rPr lang="en-US" sz="2000" dirty="0" err="1">
                <a:ea typeface="+mn-lt"/>
                <a:cs typeface="+mn-lt"/>
              </a:rPr>
              <a:t>asamblare</a:t>
            </a:r>
            <a:r>
              <a:rPr lang="en-US" sz="2000" dirty="0">
                <a:ea typeface="+mn-lt"/>
                <a:cs typeface="+mn-lt"/>
              </a:rPr>
              <a:t> (</a:t>
            </a:r>
            <a:r>
              <a:rPr lang="en-US" sz="2000" b="1" dirty="0" err="1">
                <a:ea typeface="+mn-lt"/>
                <a:cs typeface="+mn-lt"/>
              </a:rPr>
              <a:t>șuruburile</a:t>
            </a:r>
            <a:r>
              <a:rPr lang="en-US" sz="2000" dirty="0">
                <a:ea typeface="+mn-lt"/>
                <a:cs typeface="+mn-lt"/>
              </a:rPr>
              <a:t>) au </a:t>
            </a:r>
            <a:r>
              <a:rPr lang="en-US" sz="2000" dirty="0" err="1">
                <a:ea typeface="+mn-lt"/>
                <a:cs typeface="+mn-lt"/>
              </a:rPr>
              <a:t>fost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preluate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solidar</a:t>
            </a:r>
            <a:r>
              <a:rPr lang="en-US" sz="2000" dirty="0">
                <a:ea typeface="+mn-lt"/>
                <a:cs typeface="+mn-lt"/>
              </a:rPr>
              <a:t> cu </a:t>
            </a:r>
            <a:r>
              <a:rPr lang="en-US" sz="2000" dirty="0" err="1">
                <a:ea typeface="+mn-lt"/>
                <a:cs typeface="+mn-lt"/>
              </a:rPr>
              <a:t>elementele</a:t>
            </a:r>
            <a:r>
              <a:rPr lang="en-US" sz="2000" dirty="0">
                <a:ea typeface="+mn-lt"/>
                <a:cs typeface="+mn-lt"/>
              </a:rPr>
              <a:t> mobile. </a:t>
            </a:r>
            <a:r>
              <a:rPr lang="en-US" sz="2000" dirty="0" err="1">
                <a:ea typeface="+mn-lt"/>
                <a:cs typeface="+mn-lt"/>
              </a:rPr>
              <a:t>Astfel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în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vizualizare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acestea</a:t>
            </a:r>
            <a:r>
              <a:rPr lang="en-US" sz="2000" dirty="0">
                <a:ea typeface="+mn-lt"/>
                <a:cs typeface="+mn-lt"/>
              </a:rPr>
              <a:t> se </a:t>
            </a:r>
            <a:r>
              <a:rPr lang="en-US" sz="2000" dirty="0" err="1">
                <a:ea typeface="+mn-lt"/>
                <a:cs typeface="+mn-lt"/>
              </a:rPr>
              <a:t>rotesc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odată</a:t>
            </a:r>
            <a:r>
              <a:rPr lang="en-US" sz="2000" dirty="0">
                <a:ea typeface="+mn-lt"/>
                <a:cs typeface="+mn-lt"/>
              </a:rPr>
              <a:t> cu </a:t>
            </a:r>
            <a:r>
              <a:rPr lang="en-US" sz="2000" dirty="0" err="1">
                <a:ea typeface="+mn-lt"/>
                <a:cs typeface="+mn-lt"/>
              </a:rPr>
              <a:t>cuplele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în</a:t>
            </a:r>
            <a:r>
              <a:rPr lang="en-US" sz="2000" dirty="0">
                <a:ea typeface="+mn-lt"/>
                <a:cs typeface="+mn-lt"/>
              </a:rPr>
              <a:t> loc </a:t>
            </a:r>
            <a:r>
              <a:rPr lang="en-US" sz="2000" dirty="0" err="1">
                <a:ea typeface="+mn-lt"/>
                <a:cs typeface="+mn-lt"/>
              </a:rPr>
              <a:t>să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rămână</a:t>
            </a:r>
            <a:r>
              <a:rPr lang="en-US" sz="2000" dirty="0">
                <a:ea typeface="+mn-lt"/>
                <a:cs typeface="+mn-lt"/>
              </a:rPr>
              <a:t> fixe </a:t>
            </a:r>
            <a:r>
              <a:rPr lang="en-US" sz="2000" dirty="0" err="1">
                <a:ea typeface="+mn-lt"/>
                <a:cs typeface="+mn-lt"/>
              </a:rPr>
              <a:t>față</a:t>
            </a:r>
            <a:r>
              <a:rPr lang="en-US" sz="2000" dirty="0">
                <a:ea typeface="+mn-lt"/>
                <a:cs typeface="+mn-lt"/>
              </a:rPr>
              <a:t> de </a:t>
            </a:r>
            <a:r>
              <a:rPr lang="en-US" sz="2000" dirty="0" err="1">
                <a:ea typeface="+mn-lt"/>
                <a:cs typeface="+mn-lt"/>
              </a:rPr>
              <a:t>structură</a:t>
            </a:r>
            <a:r>
              <a:rPr lang="en-US" sz="2000" dirty="0">
                <a:ea typeface="+mn-lt"/>
                <a:cs typeface="+mn-lt"/>
              </a:rPr>
              <a:t>.</a:t>
            </a:r>
          </a:p>
          <a:p>
            <a:pPr algn="just"/>
            <a:r>
              <a:rPr lang="en-US" sz="2000" dirty="0" err="1"/>
              <a:t>Pentru</a:t>
            </a:r>
            <a:r>
              <a:rPr lang="en-US" sz="2000" dirty="0"/>
              <a:t> </a:t>
            </a:r>
            <a:r>
              <a:rPr lang="en-US" sz="2000" dirty="0" err="1"/>
              <a:t>optimizarea</a:t>
            </a:r>
            <a:r>
              <a:rPr lang="en-US" sz="2000" dirty="0"/>
              <a:t> </a:t>
            </a:r>
            <a:r>
              <a:rPr lang="en-US" sz="2000" dirty="0" err="1"/>
              <a:t>reducerii</a:t>
            </a:r>
            <a:r>
              <a:rPr lang="en-US" sz="2000" dirty="0"/>
              <a:t> </a:t>
            </a:r>
            <a:r>
              <a:rPr lang="en-US" sz="2000" dirty="0" err="1"/>
              <a:t>zgomotului</a:t>
            </a:r>
            <a:r>
              <a:rPr lang="en-US" sz="2000" dirty="0"/>
              <a:t> pe </a:t>
            </a:r>
            <a:r>
              <a:rPr lang="en-US" sz="2000" dirty="0" err="1"/>
              <a:t>semnalele</a:t>
            </a:r>
            <a:r>
              <a:rPr lang="en-US" sz="2000" dirty="0"/>
              <a:t> de </a:t>
            </a:r>
            <a:r>
              <a:rPr lang="en-US" sz="2000" dirty="0" err="1"/>
              <a:t>viteză</a:t>
            </a:r>
            <a:r>
              <a:rPr lang="en-US" sz="2000" dirty="0"/>
              <a:t> </a:t>
            </a:r>
            <a:r>
              <a:rPr lang="en-US" sz="2000" dirty="0" err="1"/>
              <a:t>și</a:t>
            </a:r>
            <a:r>
              <a:rPr lang="en-US" sz="2000" dirty="0"/>
              <a:t> </a:t>
            </a:r>
            <a:r>
              <a:rPr lang="en-US" sz="2000" dirty="0" err="1"/>
              <a:t>accelerație</a:t>
            </a:r>
            <a:r>
              <a:rPr lang="en-US" sz="2000" dirty="0"/>
              <a:t>, se pot </a:t>
            </a:r>
            <a:r>
              <a:rPr lang="en-US" sz="2000" dirty="0" err="1"/>
              <a:t>folosi</a:t>
            </a:r>
            <a:r>
              <a:rPr lang="en-US" sz="2000" dirty="0"/>
              <a:t> </a:t>
            </a:r>
            <a:r>
              <a:rPr lang="en-US" sz="2000" dirty="0" err="1"/>
              <a:t>filtre</a:t>
            </a:r>
            <a:r>
              <a:rPr lang="en-US" sz="2000" dirty="0"/>
              <a:t> </a:t>
            </a:r>
            <a:r>
              <a:rPr lang="en-US" sz="2000" dirty="0" err="1"/>
              <a:t>digitale</a:t>
            </a:r>
            <a:r>
              <a:rPr lang="en-US" sz="2000" dirty="0"/>
              <a:t> (</a:t>
            </a:r>
            <a:r>
              <a:rPr lang="en-US" sz="2000" dirty="0" err="1"/>
              <a:t>LowPass</a:t>
            </a:r>
            <a:r>
              <a:rPr lang="en-US" sz="2000" dirty="0"/>
              <a:t>) </a:t>
            </a:r>
            <a:r>
              <a:rPr lang="en-US" sz="2000" dirty="0" err="1"/>
              <a:t>sau</a:t>
            </a:r>
            <a:r>
              <a:rPr lang="en-US" sz="2000" dirty="0"/>
              <a:t> un </a:t>
            </a:r>
            <a:r>
              <a:rPr lang="en-US" sz="2000" dirty="0" err="1"/>
              <a:t>filtru</a:t>
            </a:r>
            <a:r>
              <a:rPr lang="en-US" sz="2000" dirty="0"/>
              <a:t> Kalman.         </a:t>
            </a:r>
            <a:r>
              <a:rPr lang="en-US" sz="2000" dirty="0" err="1"/>
              <a:t>Aceste</a:t>
            </a:r>
            <a:r>
              <a:rPr lang="en-US" sz="2000" dirty="0"/>
              <a:t> </a:t>
            </a:r>
            <a:r>
              <a:rPr lang="en-US" sz="2000" dirty="0" err="1"/>
              <a:t>soluții</a:t>
            </a:r>
            <a:r>
              <a:rPr lang="en-US" sz="2000" dirty="0"/>
              <a:t> </a:t>
            </a:r>
            <a:r>
              <a:rPr lang="en-US" sz="2000" dirty="0" err="1"/>
              <a:t>vor</a:t>
            </a:r>
            <a:r>
              <a:rPr lang="en-US" sz="2000" dirty="0"/>
              <a:t> </a:t>
            </a:r>
            <a:r>
              <a:rPr lang="en-US" sz="2000" dirty="0" err="1"/>
              <a:t>asigura</a:t>
            </a:r>
            <a:r>
              <a:rPr lang="en-US" sz="2000" dirty="0"/>
              <a:t> un </a:t>
            </a:r>
            <a:r>
              <a:rPr lang="en-US" sz="2000" dirty="0" err="1"/>
              <a:t>răspuns</a:t>
            </a:r>
            <a:r>
              <a:rPr lang="en-US" sz="2000" dirty="0"/>
              <a:t> </a:t>
            </a:r>
            <a:r>
              <a:rPr lang="en-US" sz="2000" dirty="0" err="1"/>
              <a:t>mai</a:t>
            </a:r>
            <a:r>
              <a:rPr lang="en-US" sz="2000" dirty="0"/>
              <a:t> </a:t>
            </a:r>
            <a:r>
              <a:rPr lang="en-US" sz="2000" dirty="0" err="1"/>
              <a:t>lin</a:t>
            </a:r>
            <a:r>
              <a:rPr lang="en-US" sz="2000" dirty="0"/>
              <a:t> al </a:t>
            </a:r>
            <a:r>
              <a:rPr lang="en-US" sz="2000" dirty="0" err="1"/>
              <a:t>sistemului</a:t>
            </a:r>
            <a:r>
              <a:rPr lang="en-US" sz="2000" dirty="0"/>
              <a:t> </a:t>
            </a:r>
            <a:r>
              <a:rPr lang="en-US" sz="2000" dirty="0" err="1"/>
              <a:t>și</a:t>
            </a:r>
            <a:r>
              <a:rPr lang="en-US" sz="2000" dirty="0"/>
              <a:t> </a:t>
            </a:r>
            <a:r>
              <a:rPr lang="en-US" sz="2000" dirty="0" err="1"/>
              <a:t>vor</a:t>
            </a:r>
            <a:r>
              <a:rPr lang="en-US" sz="2000" dirty="0"/>
              <a:t> </a:t>
            </a:r>
            <a:r>
              <a:rPr lang="en-US" sz="2000" dirty="0" err="1"/>
              <a:t>elimina</a:t>
            </a:r>
            <a:r>
              <a:rPr lang="en-US" sz="2000" dirty="0"/>
              <a:t> </a:t>
            </a:r>
            <a:r>
              <a:rPr lang="en-US" sz="2000" dirty="0" err="1"/>
              <a:t>fluctuațiile</a:t>
            </a:r>
            <a:r>
              <a:rPr lang="en-US" sz="2000" dirty="0"/>
              <a:t> de </a:t>
            </a:r>
            <a:r>
              <a:rPr lang="en-US" sz="2000" dirty="0" err="1"/>
              <a:t>înaltă</a:t>
            </a:r>
            <a:r>
              <a:rPr lang="en-US" sz="2000" dirty="0"/>
              <a:t> </a:t>
            </a:r>
            <a:r>
              <a:rPr lang="en-US" sz="2000" dirty="0" err="1"/>
              <a:t>frecvență</a:t>
            </a:r>
            <a:r>
              <a:rPr lang="en-US" sz="2000" dirty="0"/>
              <a:t> din </a:t>
            </a:r>
            <a:r>
              <a:rPr lang="en-US" sz="2000" dirty="0" err="1"/>
              <a:t>bucla</a:t>
            </a:r>
            <a:r>
              <a:rPr lang="en-US" sz="2000" dirty="0"/>
              <a:t> de control.</a:t>
            </a:r>
          </a:p>
          <a:p>
            <a:endParaRPr lang="en-US" sz="2200" dirty="0"/>
          </a:p>
        </p:txBody>
      </p:sp>
      <p:pic>
        <p:nvPicPr>
          <p:cNvPr id="5" name="Picture 4" descr="A robot arm on a table&#10;&#10;AI-generated content may be incorrect.">
            <a:extLst>
              <a:ext uri="{FF2B5EF4-FFF2-40B4-BE49-F238E27FC236}">
                <a16:creationId xmlns:a16="http://schemas.microsoft.com/office/drawing/2014/main" id="{2C3821A2-7450-0A24-0B92-8C30A5F30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4710" y="329183"/>
            <a:ext cx="2572476" cy="3429969"/>
          </a:xfrm>
          <a:prstGeom prst="rect">
            <a:avLst/>
          </a:prstGeom>
        </p:spPr>
      </p:pic>
      <p:pic>
        <p:nvPicPr>
          <p:cNvPr id="4" name="Picture 3" descr="A machine with wires and wires&#10;&#10;AI-generated content may be incorrect.">
            <a:extLst>
              <a:ext uri="{FF2B5EF4-FFF2-40B4-BE49-F238E27FC236}">
                <a16:creationId xmlns:a16="http://schemas.microsoft.com/office/drawing/2014/main" id="{2265BC4E-71BC-D070-BAC1-504E3DE04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0956" y="4079193"/>
            <a:ext cx="2901696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266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39</Slides>
  <Notes>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Simularea unui braț robotic în Simulink</vt:lpstr>
      <vt:lpstr>Obiectivul: Sarcina "Pick and Place"</vt:lpstr>
      <vt:lpstr>Planificarea Traiectoriei</vt:lpstr>
      <vt:lpstr>Cod Matlab</vt:lpstr>
      <vt:lpstr>Poziția, viteza și accelerația pentru coordonatele testate</vt:lpstr>
      <vt:lpstr>Arhitectura Mecanică a Robotului</vt:lpstr>
      <vt:lpstr>CAD-SIMULINK</vt:lpstr>
      <vt:lpstr>Blockuri de bază în Simulink</vt:lpstr>
      <vt:lpstr>Blockuri Simulink</vt:lpstr>
      <vt:lpstr>Blockuri Simulink</vt:lpstr>
      <vt:lpstr>Blockuri Simulink</vt:lpstr>
      <vt:lpstr>Blockuri Simulink</vt:lpstr>
      <vt:lpstr>Blockuri Simulink</vt:lpstr>
      <vt:lpstr>Blockuri Simulink</vt:lpstr>
      <vt:lpstr>Blockuri Simulink</vt:lpstr>
      <vt:lpstr>Simulare</vt:lpstr>
      <vt:lpstr>Metode</vt:lpstr>
      <vt:lpstr>Metode</vt:lpstr>
      <vt:lpstr>Metode</vt:lpstr>
      <vt:lpstr>Metode</vt:lpstr>
      <vt:lpstr>Metode</vt:lpstr>
      <vt:lpstr>Metode</vt:lpstr>
      <vt:lpstr>Metode</vt:lpstr>
      <vt:lpstr>Metode</vt:lpstr>
      <vt:lpstr>Metode</vt:lpstr>
      <vt:lpstr>Metode</vt:lpstr>
      <vt:lpstr>Metode</vt:lpstr>
      <vt:lpstr>Metode</vt:lpstr>
      <vt:lpstr>Rezultate experimentale</vt:lpstr>
      <vt:lpstr>Rezultate experimentale</vt:lpstr>
      <vt:lpstr>Rezultate experimentale</vt:lpstr>
      <vt:lpstr>Rezultate experimentale</vt:lpstr>
      <vt:lpstr>Rezultate experimentale</vt:lpstr>
      <vt:lpstr>Rezultate experimentale</vt:lpstr>
      <vt:lpstr>Rezultate experimentale </vt:lpstr>
      <vt:lpstr>Rezultate experimentale</vt:lpstr>
      <vt:lpstr>Rezultate experimentale</vt:lpstr>
      <vt:lpstr>Rezultate experimentale</vt:lpstr>
      <vt:lpstr>Concluzii și îmbunătațiri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81</cp:revision>
  <dcterms:created xsi:type="dcterms:W3CDTF">2026-01-12T21:07:28Z</dcterms:created>
  <dcterms:modified xsi:type="dcterms:W3CDTF">2026-05-02T18:02:46Z</dcterms:modified>
</cp:coreProperties>
</file>